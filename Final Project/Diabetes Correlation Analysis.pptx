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0B2545"/>
                </a:solidFill>
                <a:latin typeface="Arial"/>
              </a:defRPr>
            </a:pPr>
            <a:r>
              <a:rPr sz="900" b="0" i="0" u="none" strike="noStrike">
                <a:solidFill>
                  <a:srgbClr val="0B2545"/>
                </a:solidFill>
                <a:latin typeface="Arial"/>
              </a:rPr>
              <a:t>Point-Biserial Correlations with Diabetes Status</a:t>
            </a:r>
          </a:p>
        </c:rich>
      </c:tx>
      <c:layout/>
      <c:overlay val="0"/>
    </c:title>
    <c:autoTitleDeleted val="0"/>
    <c:plotArea>
      <c:layout/>
      <c:barChart>
        <c:barDir val="col"/>
        <c:grouping val="clustered"/>
        <c:varyColors val="0"/>
        <c:ser>
          <c:idx val="0"/>
          <c:order val="0"/>
          <c:tx>
            <c:strRef>
              <c:f>Sheet1!$B$1</c:f>
              <c:strCache>
                <c:ptCount val="1"/>
                <c:pt idx="0">
                  <c:v>Correlation</c:v>
                </c:pt>
              </c:strCache>
            </c:strRef>
          </c:tx>
          <c:spPr>
            <a:solidFill>
              <a:srgbClr val="1B6CA8"/>
            </a:solidFill>
            <a:effectLst/>
          </c:spPr>
          <c:invertIfNegative val="0"/>
          <c:dLbls>
            <c:numFmt formatCode="#,##0" sourceLinked="0"/>
            <c:txPr>
              <a:bodyPr/>
              <a:lstStyle/>
              <a:p>
                <a:pPr>
                  <a:defRPr b="0" i="0" strike="noStrike" sz="1200" u="none">
                    <a:solidFill>
                      <a:srgbClr val="0B2545"/>
                    </a:solidFill>
                    <a:latin typeface="Arial"/>
                  </a:defRPr>
                </a:pPr>
              </a:p>
            </c:txPr>
            <c:showLegendKey val="0"/>
            <c:showVal val="1"/>
            <c:showCatName val="0"/>
            <c:showSerName val="0"/>
            <c:showPercent val="0"/>
            <c:showBubbleSize val="0"/>
            <c:showLeaderLines val="0"/>
          </c:dLbls>
          <c:dPt>
            <c:idx val="0"/>
            <c:invertIfNegative val="0"/>
            <c:bubble3D val="0"/>
            <c:spPr>
              <a:solidFill>
                <a:srgbClr val="1B6CA8"/>
              </a:solidFill>
              <a:effectLst/>
            </c:spPr>
          </c:dPt>
          <c:dPt>
            <c:idx val="1"/>
            <c:invertIfNegative val="0"/>
            <c:bubble3D val="0"/>
            <c:spPr>
              <a:solidFill>
                <a:srgbClr val="1B8FC4"/>
              </a:solidFill>
              <a:effectLst/>
            </c:spPr>
          </c:dPt>
          <c:dPt>
            <c:idx val="2"/>
            <c:invertIfNegative val="0"/>
            <c:bubble3D val="0"/>
            <c:spPr>
              <a:solidFill>
                <a:srgbClr val="3AAFDC"/>
              </a:solidFill>
              <a:effectLst/>
            </c:spPr>
          </c:dPt>
          <c:dPt>
            <c:idx val="3"/>
            <c:invertIfNegative val="0"/>
            <c:bubble3D val="0"/>
            <c:spPr>
              <a:solidFill>
                <a:srgbClr val="7FCFE8"/>
              </a:solidFill>
              <a:effectLst/>
            </c:spPr>
          </c:dPt>
          <c:cat>
            <c:multiLvlStrRef>
              <c:f>Sheet1!$A$2:$A$5</c:f>
              <c:multiLvlStrCache>
                <c:ptCount val="4"/>
                <c:lvl>
                  <c:pt idx="0">
                    <c:v>Glucose</c:v>
                  </c:pt>
                  <c:pt idx="1">
                    <c:v>BMI</c:v>
                  </c:pt>
                  <c:pt idx="2">
                    <c:v>Age</c:v>
                  </c:pt>
                  <c:pt idx="3">
                    <c:v>Blood Pressure</c:v>
                  </c:pt>
                </c:lvl>
              </c:multiLvlStrCache>
            </c:multiLvlStrRef>
          </c:cat>
          <c:val>
            <c:numRef>
              <c:f>Sheet1!$B$2:$B$5</c:f>
              <c:numCache>
                <c:formatCode>General</c:formatCode>
                <c:ptCount val="4"/>
                <c:pt idx="0">
                  <c:v>0.488</c:v>
                </c:pt>
                <c:pt idx="1">
                  <c:v>0.299</c:v>
                </c:pt>
                <c:pt idx="2">
                  <c:v>0.246</c:v>
                </c:pt>
                <c:pt idx="3">
                  <c:v>0.167</c:v>
                </c:pt>
              </c:numCache>
            </c:numRef>
          </c:val>
        </c:ser>
        <c:dLbls>
          <c:numFmt formatCode="#,##0" sourceLinked="0"/>
          <c:txPr>
            <a:bodyPr/>
            <a:lstStyle/>
            <a:p>
              <a:pPr>
                <a:defRPr b="0" i="0" strike="noStrike" sz="1200" u="none">
                  <a:solidFill>
                    <a:srgbClr val="0B254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Obed, and today I will be presenting my final project — a correlation analysis of the Pima Indians Diabetes Dataset.
The core question I am trying to answer is: among clinical, demographic, and familial variables, which are most strongly associated with diabetes status, and how do these variables relate to one another?
I will walk you through my dataset, my methods, my findings, and what they mean clinically.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 used is the Pima Indians Diabetes Dataset, downloaded from the UCI Machine Learning Repository.
This is a well-known dataset in diabetes research. The Pima Indian population in Arizona has an unusually high prevalence of Type 2 diabetes, which makes this population scientifically important.
The original dataset had 768 observations. After removing biologically impossible values — like zero blood pressure or zero BMI — and excluding two variables with excessive missingness, I retained 724 clean observations across 7 variables.
About 34 percent of participants in the cleaned dataset were diabetic.
I categorized variables into three groups: clinical measurements, demographic characteristics, and a familial risk indicator called the Diabetes Pedigree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any correlations, I had to clean the data.
Step one: several variables had zero values that are biologically impossible — you cannot have a blood pressure of zero and be alive. I replaced these with NA.
Step two: Insulin had nearly 49 percent missing values, and SkinThickness had about 30 percent. Including variables with that level of missingness would bias my results, so I excluded them entirely.
Step three: I applied listwise deletion — any row with a remaining missing value was removed. This brought the dataset from 768 down to 724 observations, a loss of about 5.7 percent.
All cleaning decisions were documented and justified.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choosing a correlation method for each variable pair, I assessed the distributions of all six continuous variables using histograms and Shapiro-Wilk normality tests.
Glucose and Blood Pressure were approximately symmetric — these were candidates for Pearson correlation.
BMI showed moderate right skew. Age, Diabetes Pedigree Function, and Pregnancies showed strong right skew.
The Shapiro-Wilk test flagged all variables as non-normal, but at a sample size of 724, this test is extremely sensitive and detects even minor deviations. Visual inspection was therefore the primary basis for method selection.
The key rule I followed: Pearson requires an approximately linear relationship with no severe violations — not perfect normality. Spearman was used where skewness or data type made Pearson inappropriate.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three correlation methods, each chosen based on the characteristics of the variable pairs.
Point-biserial correlation was used whenever diabetes status — a binary 0/1 variable — was one of the variables. This is mathematically equivalent to Pearson correlation with a dichotomous variable.
Pearson correlation was used for two continuous variable pairs — Glucose vs BMI and Age vs Blood Pressure — where scatterplots confirmed approximately linear relationships without extreme outliers. I should note that Age vs Blood Pressure showed mild heteroscedasticity, which I acknowledged as a limitation.
Spearman rank correlation was used for pairs involving Pregnancies or Diabetes Pedigree Function, because these variables had non-normal distributions or count-data characteristics. When tied ranks were present, R automatically used asymptotic rather than exact p-values, which is appropriate at this sample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Pearson correlation on Glucose vs BMI and Age vs Blood Pressure, I visually inspected scatterplots to confirm that a linear relationship existed.
For Glucose vs BMI, the scatterplot showed a positive linear trend with substantial scatter around the line, but no evidence of extreme outliers pulling the result. Pearson was appropriate.
For Age vs Blood Pressure, there was also a positive linear trend. However, I noticed that blood pressure values were more spread out at younger ages and less so at older ages — this is mild heteroscedasticity. I retained Pearson given the large sample size and the absence of severe violations, but I acknowledged this in my limitations.
Both correlations were positive and statistically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full results across all 11 correlation pairs.
Looking at the bar chart on the right, which shows the four point-biserial correlations with diabetes status:
Glucose had the strongest association at r = 0.488 — a moderate positive correlation. BMI came second at 0.299, Age at 0.246, and Blood Pressure at 0.167.
In the full table on the left, the strongest relationship in the entire study was actually Age vs Pregnancies at rho = 0.617 — but this is a relationship between two demographic variables, not with diabetes status.
One result worth highlighting: Pregnancies vs BMI showed virtually no correlation at rho = negative 0.002, p = 0.967. This is a null result — despite a theoretical expectation that parity and body composition might be related, the data showed no association.
I also want to flag that DPF vs Glucose had p = 0.021 — statistically significant, but it is the weakest finding in the study, and because I did not apply a multiple comparison correction across 11 tests, this result should be treated cautiously.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heatmap gives a visual overview of all pairwise relationships among the six continuous variables — excluding the binary Outcome variable.
The darkest cell is Age and Pregnancies at 0.56 — the strongest relationship among predictors.
Age and Blood Pressure also show a moderate association at 0.32.
Glucose and BMI show a weak positive relationship at 0.22, consistent with the Pearson result.
Importantly, Pregnancies and BMI are essentially uncorrelated — the cell shows 0.01, confirming the null result from the Spearman test.
One important note: this heatmap uses Pearson coefficients for all pairs. For some pairs — particularly those involving Pregnancies or DPF — I used Spearman in the actual analysis. The heatmap is a visual overview only. The numbers in Table 2 from the previous slide are the authoritative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 pressure had the weakest correlation with diabetes status at r = 0.167. That could make you think blood pressure is essentially unrelated to diabetes in this dataset.
But correlation coefficients measure the strength of linear association across all individuals. They don't directly tell you whether the two groups differ.
So I ran a supplementary group comparison. Diabetic women had a mean blood pressure of 75.2 mmHg, compared to 70.9 mmHg for non-diabetic women — a difference of about 4.3 mmHg.
A Welch two-sample t-test confirmed this difference was statistically significant at p less than 0.001.
However — and this is important — statistical significance and clinical significance are not the same thing. A 4.3 mmHg difference is below the typical clinical threshold of 5 mmHg for meaningful blood pressure differences. The boxplot shows heavy overlap between the two groups.
So the conclusion is: blood pressure is associated with diabetes status at the group level, but it is a poor standalone discriminator between diabetic and non-diabetic individuals.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the four most important findings.
First: Glucose is the strongest correlate of diabetes status at r = 0.488. This is clinically expected — diabetes is fundamentally a disease of glucose regulation.
Second: Age and Pregnancies are strongly correlated with each other at rho = 0.617, but both are weakly associated with diabetes status. This is an important distinction — demographic variables describe the population's structure but contribute limited information about who has diabetes.
Third: Pregnancies and BMI showed essentially zero correlation. This is a null result, and null results matter. It shows that parity and body mass are not meaningfully linked in this population, despite what you might expect from theory.
Fourth: The Diabetes Pedigree Function showed only weak associations. The link with Glucose is statistically significant at p = 0.021, but this is the weakest finding in the study and may not be robust after accounting for multiple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transparent about the limitations of this study.
First, because this is cross-sectional data, we can identify associations but cannot make causal claims. Glucose being correlated with diabetes status does not mean glucose causes diabetes in any directional sense — the association is bidirectional.
Second, listwise deletion reduced my sample slightly and may have introduced bias if the missing values were not randomly distributed.
Third, excluding Insulin and SkinThickness — while justified — means I may be missing clinically relevant information about insulin resistance and body fat distribution.
Fourth — and I want to emphasize this — I ran 11 correlation tests without applying a multiple comparison correction. With that many tests, the probability of at least one false positive by chance alone is non-trivial. The DPF vs Glucose finding in particular should be treated with caution.
Fifth, the mild heteroscedasticity in Age vs Blood Pressure means Pearson may not be the ideal method for that pair, though I judged it acceptable given the sample size.
Finally, all findings are specific to Pima Indian women and should not be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study examined 11 correlation pairs across three methods — point-biserial, Pearson, and Spearman.
The central finding is that clinical variables were more strongly associated with diabetes status than demographic or familial variables.
Glucose showed the strongest association at r = 0.488, followed by BMI at 0.299, Age at 0.246, and Blood Pressure at 0.167.
Demographic variables — particularly Age and Pregnancies — were strongly related to each other but weakly related to diabetes status, suggesting they capture shared demographic structure rather than diabetes-specific risk.
Familial risk through the Diabetes Pedigree Function showed only weak associations and should be interpreted cautiously.
Future studies could extend this work using logistic regression to simultaneously examine multiple risk factors and identify their independent contributions.
Thank you.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slide — no need to read these aloud. Simply mention that full references are available and were cited throughout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image" Target="../media/image-4-4.jpeg"/><Relationship Id="rId5" Type="http://schemas.openxmlformats.org/officeDocument/2006/relationships/image" Target="../media/image-4-5.jpeg"/><Relationship Id="rId6" Type="http://schemas.openxmlformats.org/officeDocument/2006/relationships/image" Target="../media/image-4-6.jpe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7132320" y="-1097280"/>
            <a:ext cx="3200400" cy="3200400"/>
          </a:xfrm>
          <a:prstGeom prst="ellipse">
            <a:avLst/>
          </a:prstGeom>
          <a:solidFill>
            <a:srgbClr val="1B6CA8">
              <a:alpha val="25000"/>
            </a:srgbClr>
          </a:solidFill>
          <a:ln w="12700">
            <a:solidFill>
              <a:srgbClr val="1B6CA8">
                <a:alpha val="25000"/>
              </a:srgbClr>
            </a:solidFill>
            <a:prstDash val="solid"/>
          </a:ln>
        </p:spPr>
      </p:sp>
      <p:sp>
        <p:nvSpPr>
          <p:cNvPr id="3" name="Shape 1"/>
          <p:cNvSpPr/>
          <p:nvPr/>
        </p:nvSpPr>
        <p:spPr>
          <a:xfrm>
            <a:off x="-457200" y="3474720"/>
            <a:ext cx="2011680" cy="2011680"/>
          </a:xfrm>
          <a:prstGeom prst="ellipse">
            <a:avLst/>
          </a:prstGeom>
          <a:solidFill>
            <a:srgbClr val="F4A261">
              <a:alpha val="20000"/>
            </a:srgbClr>
          </a:solidFill>
          <a:ln w="12700">
            <a:solidFill>
              <a:srgbClr val="F4A261">
                <a:alpha val="20000"/>
              </a:srgbClr>
            </a:solidFill>
            <a:prstDash val="solid"/>
          </a:ln>
        </p:spPr>
      </p:sp>
      <p:sp>
        <p:nvSpPr>
          <p:cNvPr id="4" name="Text 2"/>
          <p:cNvSpPr/>
          <p:nvPr/>
        </p:nvSpPr>
        <p:spPr>
          <a:xfrm>
            <a:off x="640080" y="960120"/>
            <a:ext cx="7863840" cy="320040"/>
          </a:xfrm>
          <a:prstGeom prst="rect">
            <a:avLst/>
          </a:prstGeom>
          <a:noFill/>
          <a:ln/>
        </p:spPr>
        <p:txBody>
          <a:bodyPr wrap="square" rtlCol="0" anchor="ctr"/>
          <a:lstStyle/>
          <a:p>
            <a:pPr algn="l" indent="0" marL="0">
              <a:buNone/>
            </a:pPr>
            <a:r>
              <a:rPr lang="en-US" sz="950" b="1" spc="300" kern="0" dirty="0">
                <a:solidFill>
                  <a:srgbClr val="8FB8D4"/>
                </a:solidFill>
                <a:latin typeface="Calibri" pitchFamily="34" charset="0"/>
                <a:ea typeface="Calibri" pitchFamily="34" charset="-122"/>
                <a:cs typeface="Calibri" pitchFamily="34" charset="-120"/>
              </a:rPr>
              <a:t>MASTER'S FINAL PROJECT  ·  CORRELATION ANALYSIS</a:t>
            </a:r>
            <a:endParaRPr lang="en-US" sz="950" dirty="0"/>
          </a:p>
        </p:txBody>
      </p:sp>
      <p:sp>
        <p:nvSpPr>
          <p:cNvPr id="5" name="Text 3"/>
          <p:cNvSpPr/>
          <p:nvPr/>
        </p:nvSpPr>
        <p:spPr>
          <a:xfrm>
            <a:off x="640080" y="1371600"/>
            <a:ext cx="7498080" cy="1737360"/>
          </a:xfrm>
          <a:prstGeom prst="rect">
            <a:avLst/>
          </a:prstGeom>
          <a:noFill/>
          <a:ln/>
        </p:spPr>
        <p:txBody>
          <a:bodyPr wrap="square"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Correlation Analysis of</a:t>
            </a:r>
            <a:endParaRPr lang="en-US" sz="3600" dirty="0"/>
          </a:p>
          <a:p>
            <a:pPr algn="l" indent="0" marL="0">
              <a:buNone/>
            </a:pPr>
            <a:r>
              <a:rPr lang="en-US" sz="3600" b="1" dirty="0">
                <a:solidFill>
                  <a:srgbClr val="FFFFFF"/>
                </a:solidFill>
                <a:latin typeface="Cambria" pitchFamily="34" charset="0"/>
                <a:ea typeface="Cambria" pitchFamily="34" charset="-122"/>
                <a:cs typeface="Cambria" pitchFamily="34" charset="-120"/>
              </a:rPr>
              <a:t>Diabetes Risk Characteristics</a:t>
            </a:r>
            <a:endParaRPr lang="en-US" sz="3600" dirty="0"/>
          </a:p>
        </p:txBody>
      </p:sp>
      <p:sp>
        <p:nvSpPr>
          <p:cNvPr id="6" name="Text 4"/>
          <p:cNvSpPr/>
          <p:nvPr/>
        </p:nvSpPr>
        <p:spPr>
          <a:xfrm>
            <a:off x="640080" y="3154680"/>
            <a:ext cx="6400800" cy="411480"/>
          </a:xfrm>
          <a:prstGeom prst="rect">
            <a:avLst/>
          </a:prstGeom>
          <a:noFill/>
          <a:ln/>
        </p:spPr>
        <p:txBody>
          <a:bodyPr wrap="square" rtlCol="0" anchor="ctr"/>
          <a:lstStyle/>
          <a:p>
            <a:pPr algn="l" indent="0" marL="0">
              <a:buNone/>
            </a:pPr>
            <a:r>
              <a:rPr lang="en-US" sz="1400" dirty="0">
                <a:solidFill>
                  <a:srgbClr val="8FB8D4"/>
                </a:solidFill>
                <a:latin typeface="Calibri" pitchFamily="34" charset="0"/>
                <a:ea typeface="Calibri" pitchFamily="34" charset="-122"/>
                <a:cs typeface="Calibri" pitchFamily="34" charset="-120"/>
              </a:rPr>
              <a:t>Pima Indians Diabetes Dataset  ·  n = 724</a:t>
            </a:r>
            <a:endParaRPr lang="en-US" sz="1400" dirty="0"/>
          </a:p>
        </p:txBody>
      </p:sp>
      <p:sp>
        <p:nvSpPr>
          <p:cNvPr id="7" name="Shape 5"/>
          <p:cNvSpPr/>
          <p:nvPr/>
        </p:nvSpPr>
        <p:spPr>
          <a:xfrm>
            <a:off x="640080" y="3657600"/>
            <a:ext cx="7863840" cy="868680"/>
          </a:xfrm>
          <a:prstGeom prst="roundRect">
            <a:avLst>
              <a:gd name="adj" fmla="val 8421"/>
            </a:avLst>
          </a:prstGeom>
          <a:solidFill>
            <a:srgbClr val="1B6CA8">
              <a:alpha val="80000"/>
            </a:srgbClr>
          </a:solidFill>
          <a:ln w="12700">
            <a:solidFill>
              <a:srgbClr val="1B6CA8"/>
            </a:solidFill>
            <a:prstDash val="solid"/>
          </a:ln>
        </p:spPr>
      </p:sp>
      <p:sp>
        <p:nvSpPr>
          <p:cNvPr id="8" name="Text 6"/>
          <p:cNvSpPr/>
          <p:nvPr/>
        </p:nvSpPr>
        <p:spPr>
          <a:xfrm>
            <a:off x="868680" y="3703320"/>
            <a:ext cx="7406640" cy="777240"/>
          </a:xfrm>
          <a:prstGeom prst="rect">
            <a:avLst/>
          </a:prstGeom>
          <a:noFill/>
          <a:ln/>
        </p:spPr>
        <p:txBody>
          <a:bodyPr wrap="square" rtlCol="0" anchor="ctr"/>
          <a:lstStyle/>
          <a:p>
            <a:pPr algn="l" indent="0" marL="0">
              <a:buNone/>
            </a:pPr>
            <a:r>
              <a:rPr lang="en-US" sz="1150" i="1" dirty="0">
                <a:solidFill>
                  <a:srgbClr val="FFFFFF"/>
                </a:solidFill>
                <a:latin typeface="Calibri" pitchFamily="34" charset="0"/>
                <a:ea typeface="Calibri" pitchFamily="34" charset="-122"/>
                <a:cs typeface="Calibri" pitchFamily="34" charset="-120"/>
              </a:rPr>
              <a:t>Research Question: How are clinical, demographic, and familial risk</a:t>
            </a:r>
            <a:endParaRPr lang="en-US" sz="1150" dirty="0"/>
          </a:p>
          <a:p>
            <a:pPr algn="l" indent="0" marL="0">
              <a:buNone/>
            </a:pPr>
            <a:r>
              <a:rPr lang="en-US" sz="1150" i="1" dirty="0">
                <a:solidFill>
                  <a:srgbClr val="FFFFFF"/>
                </a:solidFill>
                <a:latin typeface="Calibri" pitchFamily="34" charset="0"/>
                <a:ea typeface="Calibri" pitchFamily="34" charset="-122"/>
                <a:cs typeface="Calibri" pitchFamily="34" charset="-120"/>
              </a:rPr>
              <a:t>characteristics related to diabetes status and to one another?</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2545"/>
          </a:solidFill>
          <a:ln w="12700">
            <a:solidFill>
              <a:srgbClr val="0B2545"/>
            </a:solidFill>
            <a:prstDash val="solid"/>
          </a:ln>
        </p:spPr>
      </p:sp>
      <p:sp>
        <p:nvSpPr>
          <p:cNvPr id="3" name="Text 1"/>
          <p:cNvSpPr/>
          <p:nvPr/>
        </p:nvSpPr>
        <p:spPr>
          <a:xfrm>
            <a:off x="457200" y="0"/>
            <a:ext cx="8229600" cy="777240"/>
          </a:xfrm>
          <a:prstGeom prst="rect">
            <a:avLst/>
          </a:prstGeom>
          <a:noFill/>
          <a:ln/>
        </p:spPr>
        <p:txBody>
          <a:bodyPr wrap="square" rtlCol="0" anchor="ctr"/>
          <a:lstStyle/>
          <a:p>
            <a:pPr algn="l" indent="0" marL="0">
              <a:buNone/>
            </a:pPr>
            <a:r>
              <a:rPr lang="en-US" sz="1300" b="1" spc="200" kern="0" dirty="0">
                <a:solidFill>
                  <a:srgbClr val="FFFFFF"/>
                </a:solidFill>
                <a:latin typeface="Calibri" pitchFamily="34" charset="0"/>
                <a:ea typeface="Calibri" pitchFamily="34" charset="-122"/>
                <a:cs typeface="Calibri" pitchFamily="34" charset="-120"/>
              </a:rPr>
              <a:t>DATASET &amp; BACKGROUND</a:t>
            </a:r>
            <a:endParaRPr lang="en-US" sz="1300" dirty="0"/>
          </a:p>
        </p:txBody>
      </p:sp>
      <p:sp>
        <p:nvSpPr>
          <p:cNvPr id="4" name="Shape 2"/>
          <p:cNvSpPr/>
          <p:nvPr/>
        </p:nvSpPr>
        <p:spPr>
          <a:xfrm>
            <a:off x="411480" y="1005840"/>
            <a:ext cx="2331720" cy="1691640"/>
          </a:xfrm>
          <a:prstGeom prst="roundRect">
            <a:avLst>
              <a:gd name="adj" fmla="val 5405"/>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5" name="Text 3"/>
          <p:cNvSpPr/>
          <p:nvPr/>
        </p:nvSpPr>
        <p:spPr>
          <a:xfrm>
            <a:off x="521208" y="1170432"/>
            <a:ext cx="2103120" cy="777240"/>
          </a:xfrm>
          <a:prstGeom prst="rect">
            <a:avLst/>
          </a:prstGeom>
          <a:noFill/>
          <a:ln/>
        </p:spPr>
        <p:txBody>
          <a:bodyPr wrap="square" rtlCol="0" anchor="ctr"/>
          <a:lstStyle/>
          <a:p>
            <a:pPr algn="ctr" indent="0" marL="0">
              <a:buNone/>
            </a:pPr>
            <a:r>
              <a:rPr lang="en-US" sz="2800" b="1" dirty="0">
                <a:solidFill>
                  <a:srgbClr val="1B6CA8"/>
                </a:solidFill>
                <a:latin typeface="Cambria" pitchFamily="34" charset="0"/>
                <a:ea typeface="Cambria" pitchFamily="34" charset="-122"/>
                <a:cs typeface="Cambria" pitchFamily="34" charset="-120"/>
              </a:rPr>
              <a:t>724</a:t>
            </a:r>
            <a:endParaRPr lang="en-US" sz="2800" dirty="0"/>
          </a:p>
        </p:txBody>
      </p:sp>
      <p:sp>
        <p:nvSpPr>
          <p:cNvPr id="6" name="Text 4"/>
          <p:cNvSpPr/>
          <p:nvPr/>
        </p:nvSpPr>
        <p:spPr>
          <a:xfrm>
            <a:off x="484632" y="1874520"/>
            <a:ext cx="2176272" cy="32004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Observations</a:t>
            </a:r>
            <a:endParaRPr lang="en-US" sz="1050" dirty="0"/>
          </a:p>
        </p:txBody>
      </p:sp>
      <p:sp>
        <p:nvSpPr>
          <p:cNvPr id="7" name="Text 5"/>
          <p:cNvSpPr/>
          <p:nvPr/>
        </p:nvSpPr>
        <p:spPr>
          <a:xfrm>
            <a:off x="484632" y="2194560"/>
            <a:ext cx="2176272" cy="347472"/>
          </a:xfrm>
          <a:prstGeom prst="rect">
            <a:avLst/>
          </a:prstGeom>
          <a:noFill/>
          <a:ln/>
        </p:spPr>
        <p:txBody>
          <a:bodyPr wrap="square" rtlCol="0" anchor="ctr"/>
          <a:lstStyle/>
          <a:p>
            <a:pPr algn="ctr" indent="0" marL="0">
              <a:buNone/>
            </a:pPr>
            <a:r>
              <a:rPr lang="en-US" sz="900" dirty="0">
                <a:solidFill>
                  <a:srgbClr val="6B8CAD"/>
                </a:solidFill>
                <a:latin typeface="Calibri" pitchFamily="34" charset="0"/>
                <a:ea typeface="Calibri" pitchFamily="34" charset="-122"/>
                <a:cs typeface="Calibri" pitchFamily="34" charset="-120"/>
              </a:rPr>
              <a:t>after cleaning</a:t>
            </a:r>
            <a:endParaRPr lang="en-US" sz="900" dirty="0"/>
          </a:p>
        </p:txBody>
      </p:sp>
      <p:sp>
        <p:nvSpPr>
          <p:cNvPr id="8" name="Shape 6"/>
          <p:cNvSpPr/>
          <p:nvPr/>
        </p:nvSpPr>
        <p:spPr>
          <a:xfrm>
            <a:off x="411480" y="2926080"/>
            <a:ext cx="2331720" cy="1691640"/>
          </a:xfrm>
          <a:prstGeom prst="roundRect">
            <a:avLst>
              <a:gd name="adj" fmla="val 5405"/>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9" name="Text 7"/>
          <p:cNvSpPr/>
          <p:nvPr/>
        </p:nvSpPr>
        <p:spPr>
          <a:xfrm>
            <a:off x="521208" y="3090672"/>
            <a:ext cx="2103120" cy="777240"/>
          </a:xfrm>
          <a:prstGeom prst="rect">
            <a:avLst/>
          </a:prstGeom>
          <a:noFill/>
          <a:ln/>
        </p:spPr>
        <p:txBody>
          <a:bodyPr wrap="square" rtlCol="0" anchor="ctr"/>
          <a:lstStyle/>
          <a:p>
            <a:pPr algn="ctr" indent="0" marL="0">
              <a:buNone/>
            </a:pPr>
            <a:r>
              <a:rPr lang="en-US" sz="2800" b="1" dirty="0">
                <a:solidFill>
                  <a:srgbClr val="1B6CA8"/>
                </a:solidFill>
                <a:latin typeface="Cambria" pitchFamily="34" charset="0"/>
                <a:ea typeface="Cambria" pitchFamily="34" charset="-122"/>
                <a:cs typeface="Cambria" pitchFamily="34" charset="-120"/>
              </a:rPr>
              <a:t>7</a:t>
            </a:r>
            <a:endParaRPr lang="en-US" sz="2800" dirty="0"/>
          </a:p>
        </p:txBody>
      </p:sp>
      <p:sp>
        <p:nvSpPr>
          <p:cNvPr id="10" name="Text 8"/>
          <p:cNvSpPr/>
          <p:nvPr/>
        </p:nvSpPr>
        <p:spPr>
          <a:xfrm>
            <a:off x="484632" y="3794760"/>
            <a:ext cx="2176272" cy="32004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Variables</a:t>
            </a:r>
            <a:endParaRPr lang="en-US" sz="1050" dirty="0"/>
          </a:p>
        </p:txBody>
      </p:sp>
      <p:sp>
        <p:nvSpPr>
          <p:cNvPr id="11" name="Text 9"/>
          <p:cNvSpPr/>
          <p:nvPr/>
        </p:nvSpPr>
        <p:spPr>
          <a:xfrm>
            <a:off x="484632" y="4114800"/>
            <a:ext cx="2176272" cy="347472"/>
          </a:xfrm>
          <a:prstGeom prst="rect">
            <a:avLst/>
          </a:prstGeom>
          <a:noFill/>
          <a:ln/>
        </p:spPr>
        <p:txBody>
          <a:bodyPr wrap="square" rtlCol="0" anchor="ctr"/>
          <a:lstStyle/>
          <a:p>
            <a:pPr algn="ctr" indent="0" marL="0">
              <a:buNone/>
            </a:pPr>
            <a:r>
              <a:rPr lang="en-US" sz="900" dirty="0">
                <a:solidFill>
                  <a:srgbClr val="6B8CAD"/>
                </a:solidFill>
                <a:latin typeface="Calibri" pitchFamily="34" charset="0"/>
                <a:ea typeface="Calibri" pitchFamily="34" charset="-122"/>
                <a:cs typeface="Calibri" pitchFamily="34" charset="-120"/>
              </a:rPr>
              <a:t>retained for analysis</a:t>
            </a:r>
            <a:endParaRPr lang="en-US" sz="900" dirty="0"/>
          </a:p>
        </p:txBody>
      </p:sp>
      <p:sp>
        <p:nvSpPr>
          <p:cNvPr id="12" name="Shape 10"/>
          <p:cNvSpPr/>
          <p:nvPr/>
        </p:nvSpPr>
        <p:spPr>
          <a:xfrm>
            <a:off x="3017520" y="1005840"/>
            <a:ext cx="2331720" cy="1691640"/>
          </a:xfrm>
          <a:prstGeom prst="roundRect">
            <a:avLst>
              <a:gd name="adj" fmla="val 5405"/>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13" name="Text 11"/>
          <p:cNvSpPr/>
          <p:nvPr/>
        </p:nvSpPr>
        <p:spPr>
          <a:xfrm>
            <a:off x="3127248" y="1170432"/>
            <a:ext cx="2103120" cy="777240"/>
          </a:xfrm>
          <a:prstGeom prst="rect">
            <a:avLst/>
          </a:prstGeom>
          <a:noFill/>
          <a:ln/>
        </p:spPr>
        <p:txBody>
          <a:bodyPr wrap="square" rtlCol="0" anchor="ctr"/>
          <a:lstStyle/>
          <a:p>
            <a:pPr algn="ctr" indent="0" marL="0">
              <a:buNone/>
            </a:pPr>
            <a:r>
              <a:rPr lang="en-US" sz="2800" b="1" dirty="0">
                <a:solidFill>
                  <a:srgbClr val="1B6CA8"/>
                </a:solidFill>
                <a:latin typeface="Cambria" pitchFamily="34" charset="0"/>
                <a:ea typeface="Cambria" pitchFamily="34" charset="-122"/>
                <a:cs typeface="Cambria" pitchFamily="34" charset="-120"/>
              </a:rPr>
              <a:t>34.4%</a:t>
            </a:r>
            <a:endParaRPr lang="en-US" sz="2800" dirty="0"/>
          </a:p>
        </p:txBody>
      </p:sp>
      <p:sp>
        <p:nvSpPr>
          <p:cNvPr id="14" name="Text 12"/>
          <p:cNvSpPr/>
          <p:nvPr/>
        </p:nvSpPr>
        <p:spPr>
          <a:xfrm>
            <a:off x="3090672" y="1874520"/>
            <a:ext cx="2176272" cy="32004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Diabetes Prevalence</a:t>
            </a:r>
            <a:endParaRPr lang="en-US" sz="1050" dirty="0"/>
          </a:p>
        </p:txBody>
      </p:sp>
      <p:sp>
        <p:nvSpPr>
          <p:cNvPr id="15" name="Text 13"/>
          <p:cNvSpPr/>
          <p:nvPr/>
        </p:nvSpPr>
        <p:spPr>
          <a:xfrm>
            <a:off x="3090672" y="2194560"/>
            <a:ext cx="2176272" cy="347472"/>
          </a:xfrm>
          <a:prstGeom prst="rect">
            <a:avLst/>
          </a:prstGeom>
          <a:noFill/>
          <a:ln/>
        </p:spPr>
        <p:txBody>
          <a:bodyPr wrap="square" rtlCol="0" anchor="ctr"/>
          <a:lstStyle/>
          <a:p>
            <a:pPr algn="ctr" indent="0" marL="0">
              <a:buNone/>
            </a:pPr>
            <a:r>
              <a:rPr lang="en-US" sz="900" dirty="0">
                <a:solidFill>
                  <a:srgbClr val="6B8CAD"/>
                </a:solidFill>
                <a:latin typeface="Calibri" pitchFamily="34" charset="0"/>
                <a:ea typeface="Calibri" pitchFamily="34" charset="-122"/>
                <a:cs typeface="Calibri" pitchFamily="34" charset="-120"/>
              </a:rPr>
              <a:t>within cleaned dataset</a:t>
            </a:r>
            <a:endParaRPr lang="en-US" sz="900" dirty="0"/>
          </a:p>
        </p:txBody>
      </p:sp>
      <p:sp>
        <p:nvSpPr>
          <p:cNvPr id="16" name="Shape 14"/>
          <p:cNvSpPr/>
          <p:nvPr/>
        </p:nvSpPr>
        <p:spPr>
          <a:xfrm>
            <a:off x="3017520" y="2926080"/>
            <a:ext cx="2331720" cy="1691640"/>
          </a:xfrm>
          <a:prstGeom prst="roundRect">
            <a:avLst>
              <a:gd name="adj" fmla="val 5405"/>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17" name="Text 15"/>
          <p:cNvSpPr/>
          <p:nvPr/>
        </p:nvSpPr>
        <p:spPr>
          <a:xfrm>
            <a:off x="3127248" y="3090672"/>
            <a:ext cx="2103120" cy="777240"/>
          </a:xfrm>
          <a:prstGeom prst="rect">
            <a:avLst/>
          </a:prstGeom>
          <a:noFill/>
          <a:ln/>
        </p:spPr>
        <p:txBody>
          <a:bodyPr wrap="square" rtlCol="0" anchor="ctr"/>
          <a:lstStyle/>
          <a:p>
            <a:pPr algn="ctr" indent="0" marL="0">
              <a:buNone/>
            </a:pPr>
            <a:r>
              <a:rPr lang="en-US" sz="1800" b="1" dirty="0">
                <a:solidFill>
                  <a:srgbClr val="1B6CA8"/>
                </a:solidFill>
                <a:latin typeface="Cambria" pitchFamily="34" charset="0"/>
                <a:ea typeface="Cambria" pitchFamily="34" charset="-122"/>
                <a:cs typeface="Cambria" pitchFamily="34" charset="-120"/>
              </a:rPr>
              <a:t>Pima Indian Women</a:t>
            </a:r>
            <a:endParaRPr lang="en-US" sz="1800" dirty="0"/>
          </a:p>
        </p:txBody>
      </p:sp>
      <p:sp>
        <p:nvSpPr>
          <p:cNvPr id="18" name="Text 16"/>
          <p:cNvSpPr/>
          <p:nvPr/>
        </p:nvSpPr>
        <p:spPr>
          <a:xfrm>
            <a:off x="3090672" y="3794760"/>
            <a:ext cx="2176272" cy="32004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Population</a:t>
            </a:r>
            <a:endParaRPr lang="en-US" sz="1050" dirty="0"/>
          </a:p>
        </p:txBody>
      </p:sp>
      <p:sp>
        <p:nvSpPr>
          <p:cNvPr id="19" name="Text 17"/>
          <p:cNvSpPr/>
          <p:nvPr/>
        </p:nvSpPr>
        <p:spPr>
          <a:xfrm>
            <a:off x="3090672" y="4114800"/>
            <a:ext cx="2176272" cy="347472"/>
          </a:xfrm>
          <a:prstGeom prst="rect">
            <a:avLst/>
          </a:prstGeom>
          <a:noFill/>
          <a:ln/>
        </p:spPr>
        <p:txBody>
          <a:bodyPr wrap="square" rtlCol="0" anchor="ctr"/>
          <a:lstStyle/>
          <a:p>
            <a:pPr algn="ctr" indent="0" marL="0">
              <a:buNone/>
            </a:pPr>
            <a:r>
              <a:rPr lang="en-US" sz="900" dirty="0">
                <a:solidFill>
                  <a:srgbClr val="6B8CAD"/>
                </a:solidFill>
                <a:latin typeface="Calibri" pitchFamily="34" charset="0"/>
                <a:ea typeface="Calibri" pitchFamily="34" charset="-122"/>
                <a:cs typeface="Calibri" pitchFamily="34" charset="-120"/>
              </a:rPr>
              <a:t>adult, female only</a:t>
            </a:r>
            <a:endParaRPr lang="en-US" sz="900" dirty="0"/>
          </a:p>
        </p:txBody>
      </p:sp>
      <p:sp>
        <p:nvSpPr>
          <p:cNvPr id="20" name="Shape 18"/>
          <p:cNvSpPr/>
          <p:nvPr/>
        </p:nvSpPr>
        <p:spPr>
          <a:xfrm>
            <a:off x="5486400" y="960120"/>
            <a:ext cx="3246120" cy="3840480"/>
          </a:xfrm>
          <a:prstGeom prst="roundRect">
            <a:avLst>
              <a:gd name="adj" fmla="val 2817"/>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21" name="Text 19"/>
          <p:cNvSpPr/>
          <p:nvPr/>
        </p:nvSpPr>
        <p:spPr>
          <a:xfrm>
            <a:off x="5623560" y="1078992"/>
            <a:ext cx="2971800" cy="365760"/>
          </a:xfrm>
          <a:prstGeom prst="rect">
            <a:avLst/>
          </a:prstGeom>
          <a:noFill/>
          <a:ln/>
        </p:spPr>
        <p:txBody>
          <a:bodyPr wrap="square" rtlCol="0" anchor="ctr"/>
          <a:lstStyle/>
          <a:p>
            <a:pPr algn="l" indent="0" marL="0">
              <a:buNone/>
            </a:pPr>
            <a:r>
              <a:rPr lang="en-US" sz="1150" b="1" dirty="0">
                <a:solidFill>
                  <a:srgbClr val="1B6CA8"/>
                </a:solidFill>
                <a:latin typeface="Calibri" pitchFamily="34" charset="0"/>
                <a:ea typeface="Calibri" pitchFamily="34" charset="-122"/>
                <a:cs typeface="Calibri" pitchFamily="34" charset="-120"/>
              </a:rPr>
              <a:t>Variable Categories</a:t>
            </a:r>
            <a:endParaRPr lang="en-US" sz="1150" dirty="0"/>
          </a:p>
        </p:txBody>
      </p:sp>
      <p:sp>
        <p:nvSpPr>
          <p:cNvPr id="22" name="Shape 20"/>
          <p:cNvSpPr/>
          <p:nvPr/>
        </p:nvSpPr>
        <p:spPr>
          <a:xfrm>
            <a:off x="5650992" y="1536192"/>
            <a:ext cx="2926080" cy="685800"/>
          </a:xfrm>
          <a:prstGeom prst="roundRect">
            <a:avLst>
              <a:gd name="adj" fmla="val 9333"/>
            </a:avLst>
          </a:prstGeom>
          <a:solidFill>
            <a:srgbClr val="1B6CA8">
              <a:alpha val="12000"/>
            </a:srgbClr>
          </a:solidFill>
          <a:ln w="12700">
            <a:solidFill>
              <a:srgbClr val="1B6CA8">
                <a:alpha val="40000"/>
              </a:srgbClr>
            </a:solidFill>
            <a:prstDash val="solid"/>
          </a:ln>
        </p:spPr>
      </p:sp>
      <p:sp>
        <p:nvSpPr>
          <p:cNvPr id="23" name="Text 21"/>
          <p:cNvSpPr/>
          <p:nvPr/>
        </p:nvSpPr>
        <p:spPr>
          <a:xfrm>
            <a:off x="5742432" y="1572768"/>
            <a:ext cx="2743200" cy="274320"/>
          </a:xfrm>
          <a:prstGeom prst="rect">
            <a:avLst/>
          </a:prstGeom>
          <a:noFill/>
          <a:ln/>
        </p:spPr>
        <p:txBody>
          <a:bodyPr wrap="square" lIns="0" tIns="0" rIns="0" bIns="0" rtlCol="0" anchor="ctr"/>
          <a:lstStyle/>
          <a:p>
            <a:pPr algn="l" indent="0" marL="0">
              <a:buNone/>
            </a:pPr>
            <a:r>
              <a:rPr lang="en-US" sz="1050" b="1" dirty="0">
                <a:solidFill>
                  <a:srgbClr val="1B6CA8"/>
                </a:solidFill>
                <a:latin typeface="Calibri" pitchFamily="34" charset="0"/>
                <a:ea typeface="Calibri" pitchFamily="34" charset="-122"/>
                <a:cs typeface="Calibri" pitchFamily="34" charset="-120"/>
              </a:rPr>
              <a:t>Clinical</a:t>
            </a:r>
            <a:endParaRPr lang="en-US" sz="1050" dirty="0"/>
          </a:p>
        </p:txBody>
      </p:sp>
      <p:sp>
        <p:nvSpPr>
          <p:cNvPr id="24" name="Text 22"/>
          <p:cNvSpPr/>
          <p:nvPr/>
        </p:nvSpPr>
        <p:spPr>
          <a:xfrm>
            <a:off x="5742432" y="1847088"/>
            <a:ext cx="2743200" cy="274320"/>
          </a:xfrm>
          <a:prstGeom prst="rect">
            <a:avLst/>
          </a:prstGeom>
          <a:noFill/>
          <a:ln/>
        </p:spPr>
        <p:txBody>
          <a:bodyPr wrap="square" lIns="0" tIns="0" rIns="0" bIns="0" rtlCol="0" anchor="ctr"/>
          <a:lstStyle/>
          <a:p>
            <a:pPr algn="l" indent="0" marL="0">
              <a:buNone/>
            </a:pPr>
            <a:r>
              <a:rPr lang="en-US" sz="950" dirty="0">
                <a:solidFill>
                  <a:srgbClr val="0B2545"/>
                </a:solidFill>
                <a:latin typeface="Calibri" pitchFamily="34" charset="0"/>
                <a:ea typeface="Calibri" pitchFamily="34" charset="-122"/>
                <a:cs typeface="Calibri" pitchFamily="34" charset="-120"/>
              </a:rPr>
              <a:t>Glucose · Blood Pressure · BMI</a:t>
            </a:r>
            <a:endParaRPr lang="en-US" sz="950" dirty="0"/>
          </a:p>
        </p:txBody>
      </p:sp>
      <p:sp>
        <p:nvSpPr>
          <p:cNvPr id="25" name="Shape 23"/>
          <p:cNvSpPr/>
          <p:nvPr/>
        </p:nvSpPr>
        <p:spPr>
          <a:xfrm>
            <a:off x="5650992" y="2340864"/>
            <a:ext cx="2926080" cy="685800"/>
          </a:xfrm>
          <a:prstGeom prst="roundRect">
            <a:avLst>
              <a:gd name="adj" fmla="val 9333"/>
            </a:avLst>
          </a:prstGeom>
          <a:solidFill>
            <a:srgbClr val="F4A261">
              <a:alpha val="12000"/>
            </a:srgbClr>
          </a:solidFill>
          <a:ln w="12700">
            <a:solidFill>
              <a:srgbClr val="F4A261">
                <a:alpha val="40000"/>
              </a:srgbClr>
            </a:solidFill>
            <a:prstDash val="solid"/>
          </a:ln>
        </p:spPr>
      </p:sp>
      <p:sp>
        <p:nvSpPr>
          <p:cNvPr id="26" name="Text 24"/>
          <p:cNvSpPr/>
          <p:nvPr/>
        </p:nvSpPr>
        <p:spPr>
          <a:xfrm>
            <a:off x="5742432" y="2377440"/>
            <a:ext cx="2743200" cy="274320"/>
          </a:xfrm>
          <a:prstGeom prst="rect">
            <a:avLst/>
          </a:prstGeom>
          <a:noFill/>
          <a:ln/>
        </p:spPr>
        <p:txBody>
          <a:bodyPr wrap="square" lIns="0" tIns="0" rIns="0" bIns="0" rtlCol="0" anchor="ctr"/>
          <a:lstStyle/>
          <a:p>
            <a:pPr algn="l" indent="0" marL="0">
              <a:buNone/>
            </a:pPr>
            <a:r>
              <a:rPr lang="en-US" sz="1050" b="1" dirty="0">
                <a:solidFill>
                  <a:srgbClr val="F4A261"/>
                </a:solidFill>
                <a:latin typeface="Calibri" pitchFamily="34" charset="0"/>
                <a:ea typeface="Calibri" pitchFamily="34" charset="-122"/>
                <a:cs typeface="Calibri" pitchFamily="34" charset="-120"/>
              </a:rPr>
              <a:t>Demographic</a:t>
            </a:r>
            <a:endParaRPr lang="en-US" sz="1050" dirty="0"/>
          </a:p>
        </p:txBody>
      </p:sp>
      <p:sp>
        <p:nvSpPr>
          <p:cNvPr id="27" name="Text 25"/>
          <p:cNvSpPr/>
          <p:nvPr/>
        </p:nvSpPr>
        <p:spPr>
          <a:xfrm>
            <a:off x="5742432" y="2651760"/>
            <a:ext cx="2743200" cy="274320"/>
          </a:xfrm>
          <a:prstGeom prst="rect">
            <a:avLst/>
          </a:prstGeom>
          <a:noFill/>
          <a:ln/>
        </p:spPr>
        <p:txBody>
          <a:bodyPr wrap="square" lIns="0" tIns="0" rIns="0" bIns="0" rtlCol="0" anchor="ctr"/>
          <a:lstStyle/>
          <a:p>
            <a:pPr algn="l" indent="0" marL="0">
              <a:buNone/>
            </a:pPr>
            <a:r>
              <a:rPr lang="en-US" sz="950" dirty="0">
                <a:solidFill>
                  <a:srgbClr val="0B2545"/>
                </a:solidFill>
                <a:latin typeface="Calibri" pitchFamily="34" charset="0"/>
                <a:ea typeface="Calibri" pitchFamily="34" charset="-122"/>
                <a:cs typeface="Calibri" pitchFamily="34" charset="-120"/>
              </a:rPr>
              <a:t>Age · Pregnancies</a:t>
            </a:r>
            <a:endParaRPr lang="en-US" sz="950" dirty="0"/>
          </a:p>
        </p:txBody>
      </p:sp>
      <p:sp>
        <p:nvSpPr>
          <p:cNvPr id="28" name="Shape 26"/>
          <p:cNvSpPr/>
          <p:nvPr/>
        </p:nvSpPr>
        <p:spPr>
          <a:xfrm>
            <a:off x="5650992" y="3145536"/>
            <a:ext cx="2926080" cy="685800"/>
          </a:xfrm>
          <a:prstGeom prst="roundRect">
            <a:avLst>
              <a:gd name="adj" fmla="val 9333"/>
            </a:avLst>
          </a:prstGeom>
          <a:solidFill>
            <a:srgbClr val="6A0572">
              <a:alpha val="12000"/>
            </a:srgbClr>
          </a:solidFill>
          <a:ln w="12700">
            <a:solidFill>
              <a:srgbClr val="6A0572">
                <a:alpha val="40000"/>
              </a:srgbClr>
            </a:solidFill>
            <a:prstDash val="solid"/>
          </a:ln>
        </p:spPr>
      </p:sp>
      <p:sp>
        <p:nvSpPr>
          <p:cNvPr id="29" name="Text 27"/>
          <p:cNvSpPr/>
          <p:nvPr/>
        </p:nvSpPr>
        <p:spPr>
          <a:xfrm>
            <a:off x="5742432" y="3182112"/>
            <a:ext cx="2743200" cy="274320"/>
          </a:xfrm>
          <a:prstGeom prst="rect">
            <a:avLst/>
          </a:prstGeom>
          <a:noFill/>
          <a:ln/>
        </p:spPr>
        <p:txBody>
          <a:bodyPr wrap="square" lIns="0" tIns="0" rIns="0" bIns="0" rtlCol="0" anchor="ctr"/>
          <a:lstStyle/>
          <a:p>
            <a:pPr algn="l" indent="0" marL="0">
              <a:buNone/>
            </a:pPr>
            <a:r>
              <a:rPr lang="en-US" sz="1050" b="1" dirty="0">
                <a:solidFill>
                  <a:srgbClr val="6A0572"/>
                </a:solidFill>
                <a:latin typeface="Calibri" pitchFamily="34" charset="0"/>
                <a:ea typeface="Calibri" pitchFamily="34" charset="-122"/>
                <a:cs typeface="Calibri" pitchFamily="34" charset="-120"/>
              </a:rPr>
              <a:t>Familial Risk</a:t>
            </a:r>
            <a:endParaRPr lang="en-US" sz="1050" dirty="0"/>
          </a:p>
        </p:txBody>
      </p:sp>
      <p:sp>
        <p:nvSpPr>
          <p:cNvPr id="30" name="Text 28"/>
          <p:cNvSpPr/>
          <p:nvPr/>
        </p:nvSpPr>
        <p:spPr>
          <a:xfrm>
            <a:off x="5742432" y="3456432"/>
            <a:ext cx="2743200" cy="274320"/>
          </a:xfrm>
          <a:prstGeom prst="rect">
            <a:avLst/>
          </a:prstGeom>
          <a:noFill/>
          <a:ln/>
        </p:spPr>
        <p:txBody>
          <a:bodyPr wrap="square" lIns="0" tIns="0" rIns="0" bIns="0" rtlCol="0" anchor="ctr"/>
          <a:lstStyle/>
          <a:p>
            <a:pPr algn="l" indent="0" marL="0">
              <a:buNone/>
            </a:pPr>
            <a:r>
              <a:rPr lang="en-US" sz="950" dirty="0">
                <a:solidFill>
                  <a:srgbClr val="0B2545"/>
                </a:solidFill>
                <a:latin typeface="Calibri" pitchFamily="34" charset="0"/>
                <a:ea typeface="Calibri" pitchFamily="34" charset="-122"/>
                <a:cs typeface="Calibri" pitchFamily="34" charset="-120"/>
              </a:rPr>
              <a:t>Diabetes Pedigree Function</a:t>
            </a:r>
            <a:endParaRPr lang="en-US" sz="950" dirty="0"/>
          </a:p>
        </p:txBody>
      </p:sp>
      <p:sp>
        <p:nvSpPr>
          <p:cNvPr id="31" name="Shape 29"/>
          <p:cNvSpPr/>
          <p:nvPr/>
        </p:nvSpPr>
        <p:spPr>
          <a:xfrm>
            <a:off x="5650992" y="3950208"/>
            <a:ext cx="2926080" cy="685800"/>
          </a:xfrm>
          <a:prstGeom prst="roundRect">
            <a:avLst>
              <a:gd name="adj" fmla="val 9333"/>
            </a:avLst>
          </a:prstGeom>
          <a:solidFill>
            <a:srgbClr val="E63946">
              <a:alpha val="12000"/>
            </a:srgbClr>
          </a:solidFill>
          <a:ln w="12700">
            <a:solidFill>
              <a:srgbClr val="E63946">
                <a:alpha val="40000"/>
              </a:srgbClr>
            </a:solidFill>
            <a:prstDash val="solid"/>
          </a:ln>
        </p:spPr>
      </p:sp>
      <p:sp>
        <p:nvSpPr>
          <p:cNvPr id="32" name="Text 30"/>
          <p:cNvSpPr/>
          <p:nvPr/>
        </p:nvSpPr>
        <p:spPr>
          <a:xfrm>
            <a:off x="5742432" y="3986784"/>
            <a:ext cx="2743200" cy="274320"/>
          </a:xfrm>
          <a:prstGeom prst="rect">
            <a:avLst/>
          </a:prstGeom>
          <a:noFill/>
          <a:ln/>
        </p:spPr>
        <p:txBody>
          <a:bodyPr wrap="square" lIns="0" tIns="0" rIns="0" bIns="0" rtlCol="0" anchor="ctr"/>
          <a:lstStyle/>
          <a:p>
            <a:pPr algn="l" indent="0" marL="0">
              <a:buNone/>
            </a:pPr>
            <a:r>
              <a:rPr lang="en-US" sz="1050" b="1" dirty="0">
                <a:solidFill>
                  <a:srgbClr val="E63946"/>
                </a:solidFill>
                <a:latin typeface="Calibri" pitchFamily="34" charset="0"/>
                <a:ea typeface="Calibri" pitchFamily="34" charset="-122"/>
                <a:cs typeface="Calibri" pitchFamily="34" charset="-120"/>
              </a:rPr>
              <a:t>Outcome</a:t>
            </a:r>
            <a:endParaRPr lang="en-US" sz="1050" dirty="0"/>
          </a:p>
        </p:txBody>
      </p:sp>
      <p:sp>
        <p:nvSpPr>
          <p:cNvPr id="33" name="Text 31"/>
          <p:cNvSpPr/>
          <p:nvPr/>
        </p:nvSpPr>
        <p:spPr>
          <a:xfrm>
            <a:off x="5742432" y="4261104"/>
            <a:ext cx="2743200" cy="274320"/>
          </a:xfrm>
          <a:prstGeom prst="rect">
            <a:avLst/>
          </a:prstGeom>
          <a:noFill/>
          <a:ln/>
        </p:spPr>
        <p:txBody>
          <a:bodyPr wrap="square" lIns="0" tIns="0" rIns="0" bIns="0" rtlCol="0" anchor="ctr"/>
          <a:lstStyle/>
          <a:p>
            <a:pPr algn="l" indent="0" marL="0">
              <a:buNone/>
            </a:pPr>
            <a:r>
              <a:rPr lang="en-US" sz="950" dirty="0">
                <a:solidFill>
                  <a:srgbClr val="0B2545"/>
                </a:solidFill>
                <a:latin typeface="Calibri" pitchFamily="34" charset="0"/>
                <a:ea typeface="Calibri" pitchFamily="34" charset="-122"/>
                <a:cs typeface="Calibri" pitchFamily="34" charset="-120"/>
              </a:rPr>
              <a:t>Diabetes Status (0 / 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2545"/>
          </a:solidFill>
          <a:ln w="12700">
            <a:solidFill>
              <a:srgbClr val="0B2545"/>
            </a:solidFill>
            <a:prstDash val="solid"/>
          </a:ln>
        </p:spPr>
      </p:sp>
      <p:sp>
        <p:nvSpPr>
          <p:cNvPr id="3" name="Text 1"/>
          <p:cNvSpPr/>
          <p:nvPr/>
        </p:nvSpPr>
        <p:spPr>
          <a:xfrm>
            <a:off x="457200" y="0"/>
            <a:ext cx="8229600" cy="777240"/>
          </a:xfrm>
          <a:prstGeom prst="rect">
            <a:avLst/>
          </a:prstGeom>
          <a:noFill/>
          <a:ln/>
        </p:spPr>
        <p:txBody>
          <a:bodyPr wrap="square" rtlCol="0" anchor="ctr"/>
          <a:lstStyle/>
          <a:p>
            <a:pPr algn="l" indent="0" marL="0">
              <a:buNone/>
            </a:pPr>
            <a:r>
              <a:rPr lang="en-US" sz="1300" b="1" spc="200" kern="0" dirty="0">
                <a:solidFill>
                  <a:srgbClr val="FFFFFF"/>
                </a:solidFill>
                <a:latin typeface="Calibri" pitchFamily="34" charset="0"/>
                <a:ea typeface="Calibri" pitchFamily="34" charset="-122"/>
                <a:cs typeface="Calibri" pitchFamily="34" charset="-120"/>
              </a:rPr>
              <a:t>DATA CLEANING &amp; PREPARATION</a:t>
            </a:r>
            <a:endParaRPr lang="en-US" sz="1300" dirty="0"/>
          </a:p>
        </p:txBody>
      </p:sp>
      <p:sp>
        <p:nvSpPr>
          <p:cNvPr id="4" name="Shape 2"/>
          <p:cNvSpPr/>
          <p:nvPr/>
        </p:nvSpPr>
        <p:spPr>
          <a:xfrm>
            <a:off x="411480" y="960120"/>
            <a:ext cx="2606040" cy="3886200"/>
          </a:xfrm>
          <a:prstGeom prst="roundRect">
            <a:avLst>
              <a:gd name="adj" fmla="val 4211"/>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1234440" y="1078992"/>
            <a:ext cx="960120" cy="960120"/>
          </a:xfrm>
          <a:prstGeom prst="ellipse">
            <a:avLst/>
          </a:prstGeom>
          <a:solidFill>
            <a:srgbClr val="1B6CA8"/>
          </a:solidFill>
          <a:ln w="12700">
            <a:solidFill>
              <a:srgbClr val="1B6CA8"/>
            </a:solidFill>
            <a:prstDash val="solid"/>
          </a:ln>
        </p:spPr>
      </p:sp>
      <p:sp>
        <p:nvSpPr>
          <p:cNvPr id="6" name="Text 4"/>
          <p:cNvSpPr/>
          <p:nvPr/>
        </p:nvSpPr>
        <p:spPr>
          <a:xfrm>
            <a:off x="1234440" y="1078992"/>
            <a:ext cx="960120" cy="9601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548640" y="2176272"/>
            <a:ext cx="2331720" cy="594360"/>
          </a:xfrm>
          <a:prstGeom prst="rect">
            <a:avLst/>
          </a:prstGeom>
          <a:noFill/>
          <a:ln/>
        </p:spPr>
        <p:txBody>
          <a:bodyPr wrap="square"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Replace Impossible Zeros</a:t>
            </a:r>
            <a:endParaRPr lang="en-US" sz="1150" dirty="0"/>
          </a:p>
        </p:txBody>
      </p:sp>
      <p:sp>
        <p:nvSpPr>
          <p:cNvPr id="8" name="Text 6"/>
          <p:cNvSpPr/>
          <p:nvPr/>
        </p:nvSpPr>
        <p:spPr>
          <a:xfrm>
            <a:off x="576072" y="2834640"/>
            <a:ext cx="2286000" cy="1828800"/>
          </a:xfrm>
          <a:prstGeom prst="rect">
            <a:avLst/>
          </a:prstGeom>
          <a:noFill/>
          <a:ln/>
        </p:spPr>
        <p:txBody>
          <a:bodyPr wrap="square" rtlCol="0" anchor="t"/>
          <a:lstStyle/>
          <a:p>
            <a:pPr algn="l" indent="0" marL="0">
              <a:buNone/>
            </a:pPr>
            <a:r>
              <a:rPr lang="en-US" sz="1000" dirty="0">
                <a:solidFill>
                  <a:srgbClr val="3A5068"/>
                </a:solidFill>
                <a:latin typeface="Calibri" pitchFamily="34" charset="0"/>
                <a:ea typeface="Calibri" pitchFamily="34" charset="-122"/>
                <a:cs typeface="Calibri" pitchFamily="34" charset="-120"/>
              </a:rPr>
              <a:t>BloodPressure, BMI, and Glucose contained zero values — physiologically impossible. These were recoded as missing (NA).</a:t>
            </a:r>
            <a:endParaRPr lang="en-US" sz="1000" dirty="0"/>
          </a:p>
        </p:txBody>
      </p:sp>
      <p:sp>
        <p:nvSpPr>
          <p:cNvPr id="9" name="Shape 7"/>
          <p:cNvSpPr/>
          <p:nvPr/>
        </p:nvSpPr>
        <p:spPr>
          <a:xfrm>
            <a:off x="3264408" y="960120"/>
            <a:ext cx="2606040" cy="3886200"/>
          </a:xfrm>
          <a:prstGeom prst="roundRect">
            <a:avLst>
              <a:gd name="adj" fmla="val 4211"/>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10" name="Shape 8"/>
          <p:cNvSpPr/>
          <p:nvPr/>
        </p:nvSpPr>
        <p:spPr>
          <a:xfrm>
            <a:off x="4087368" y="1078992"/>
            <a:ext cx="960120" cy="960120"/>
          </a:xfrm>
          <a:prstGeom prst="ellipse">
            <a:avLst/>
          </a:prstGeom>
          <a:solidFill>
            <a:srgbClr val="F4A261"/>
          </a:solidFill>
          <a:ln w="12700">
            <a:solidFill>
              <a:srgbClr val="F4A261"/>
            </a:solidFill>
            <a:prstDash val="solid"/>
          </a:ln>
        </p:spPr>
      </p:sp>
      <p:sp>
        <p:nvSpPr>
          <p:cNvPr id="11" name="Text 9"/>
          <p:cNvSpPr/>
          <p:nvPr/>
        </p:nvSpPr>
        <p:spPr>
          <a:xfrm>
            <a:off x="4087368" y="1078992"/>
            <a:ext cx="960120" cy="9601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02</a:t>
            </a:r>
            <a:endParaRPr lang="en-US" sz="2000" dirty="0"/>
          </a:p>
        </p:txBody>
      </p:sp>
      <p:sp>
        <p:nvSpPr>
          <p:cNvPr id="12" name="Text 10"/>
          <p:cNvSpPr/>
          <p:nvPr/>
        </p:nvSpPr>
        <p:spPr>
          <a:xfrm>
            <a:off x="3401568" y="2176272"/>
            <a:ext cx="2331720" cy="594360"/>
          </a:xfrm>
          <a:prstGeom prst="rect">
            <a:avLst/>
          </a:prstGeom>
          <a:noFill/>
          <a:ln/>
        </p:spPr>
        <p:txBody>
          <a:bodyPr wrap="square"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Exclude High-Missingness Variables</a:t>
            </a:r>
            <a:endParaRPr lang="en-US" sz="1150" dirty="0"/>
          </a:p>
        </p:txBody>
      </p:sp>
      <p:sp>
        <p:nvSpPr>
          <p:cNvPr id="13" name="Text 11"/>
          <p:cNvSpPr/>
          <p:nvPr/>
        </p:nvSpPr>
        <p:spPr>
          <a:xfrm>
            <a:off x="3429000" y="2834640"/>
            <a:ext cx="2286000" cy="1828800"/>
          </a:xfrm>
          <a:prstGeom prst="rect">
            <a:avLst/>
          </a:prstGeom>
          <a:noFill/>
          <a:ln/>
        </p:spPr>
        <p:txBody>
          <a:bodyPr wrap="square" rtlCol="0" anchor="t"/>
          <a:lstStyle/>
          <a:p>
            <a:pPr algn="l" indent="0" marL="0">
              <a:buNone/>
            </a:pPr>
            <a:r>
              <a:rPr lang="en-US" sz="1000" dirty="0">
                <a:solidFill>
                  <a:srgbClr val="3A5068"/>
                </a:solidFill>
                <a:latin typeface="Calibri" pitchFamily="34" charset="0"/>
                <a:ea typeface="Calibri" pitchFamily="34" charset="-122"/>
                <a:cs typeface="Calibri" pitchFamily="34" charset="-120"/>
              </a:rPr>
              <a:t>Insulin (48.7% missing) and SkinThickness (29.6% missing) were excluded entirely to avoid biased correlation estimates.</a:t>
            </a:r>
            <a:endParaRPr lang="en-US" sz="1000" dirty="0"/>
          </a:p>
        </p:txBody>
      </p:sp>
      <p:sp>
        <p:nvSpPr>
          <p:cNvPr id="14" name="Shape 12"/>
          <p:cNvSpPr/>
          <p:nvPr/>
        </p:nvSpPr>
        <p:spPr>
          <a:xfrm>
            <a:off x="6117336" y="960120"/>
            <a:ext cx="2606040" cy="3886200"/>
          </a:xfrm>
          <a:prstGeom prst="roundRect">
            <a:avLst>
              <a:gd name="adj" fmla="val 4211"/>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15" name="Shape 13"/>
          <p:cNvSpPr/>
          <p:nvPr/>
        </p:nvSpPr>
        <p:spPr>
          <a:xfrm>
            <a:off x="6940296" y="1078992"/>
            <a:ext cx="960120" cy="960120"/>
          </a:xfrm>
          <a:prstGeom prst="ellipse">
            <a:avLst/>
          </a:prstGeom>
          <a:solidFill>
            <a:srgbClr val="6A0572"/>
          </a:solidFill>
          <a:ln w="12700">
            <a:solidFill>
              <a:srgbClr val="6A0572"/>
            </a:solidFill>
            <a:prstDash val="solid"/>
          </a:ln>
        </p:spPr>
      </p:sp>
      <p:sp>
        <p:nvSpPr>
          <p:cNvPr id="16" name="Text 14"/>
          <p:cNvSpPr/>
          <p:nvPr/>
        </p:nvSpPr>
        <p:spPr>
          <a:xfrm>
            <a:off x="6940296" y="1078992"/>
            <a:ext cx="960120" cy="9601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03</a:t>
            </a:r>
            <a:endParaRPr lang="en-US" sz="2000" dirty="0"/>
          </a:p>
        </p:txBody>
      </p:sp>
      <p:sp>
        <p:nvSpPr>
          <p:cNvPr id="17" name="Text 15"/>
          <p:cNvSpPr/>
          <p:nvPr/>
        </p:nvSpPr>
        <p:spPr>
          <a:xfrm>
            <a:off x="6254496" y="2176272"/>
            <a:ext cx="2331720" cy="594360"/>
          </a:xfrm>
          <a:prstGeom prst="rect">
            <a:avLst/>
          </a:prstGeom>
          <a:noFill/>
          <a:ln/>
        </p:spPr>
        <p:txBody>
          <a:bodyPr wrap="square"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Listwise Deletion</a:t>
            </a:r>
            <a:endParaRPr lang="en-US" sz="1150" dirty="0"/>
          </a:p>
        </p:txBody>
      </p:sp>
      <p:sp>
        <p:nvSpPr>
          <p:cNvPr id="18" name="Text 16"/>
          <p:cNvSpPr/>
          <p:nvPr/>
        </p:nvSpPr>
        <p:spPr>
          <a:xfrm>
            <a:off x="6281928" y="2834640"/>
            <a:ext cx="2286000" cy="1828800"/>
          </a:xfrm>
          <a:prstGeom prst="rect">
            <a:avLst/>
          </a:prstGeom>
          <a:noFill/>
          <a:ln/>
        </p:spPr>
        <p:txBody>
          <a:bodyPr wrap="square" rtlCol="0" anchor="t"/>
          <a:lstStyle/>
          <a:p>
            <a:pPr algn="l" indent="0" marL="0">
              <a:buNone/>
            </a:pPr>
            <a:r>
              <a:rPr lang="en-US" sz="1000" dirty="0">
                <a:solidFill>
                  <a:srgbClr val="3A5068"/>
                </a:solidFill>
                <a:latin typeface="Calibri" pitchFamily="34" charset="0"/>
                <a:ea typeface="Calibri" pitchFamily="34" charset="-122"/>
                <a:cs typeface="Calibri" pitchFamily="34" charset="-120"/>
              </a:rPr>
              <a:t>Rows with any remaining NA values were removed. Final dataset: 724 observations, 7 variables. 44 rows removed (5.7%).</a:t>
            </a:r>
            <a:endParaRPr lang="en-US" sz="1000" dirty="0"/>
          </a:p>
        </p:txBody>
      </p:sp>
      <p:sp>
        <p:nvSpPr>
          <p:cNvPr id="19" name="Text 17"/>
          <p:cNvSpPr/>
          <p:nvPr/>
        </p:nvSpPr>
        <p:spPr>
          <a:xfrm>
            <a:off x="457200" y="4736592"/>
            <a:ext cx="8229600" cy="274320"/>
          </a:xfrm>
          <a:prstGeom prst="rect">
            <a:avLst/>
          </a:prstGeom>
          <a:noFill/>
          <a:ln/>
        </p:spPr>
        <p:txBody>
          <a:bodyPr wrap="square" rtlCol="0" anchor="ctr"/>
          <a:lstStyle/>
          <a:p>
            <a:pPr algn="ctr" indent="0" marL="0">
              <a:buNone/>
            </a:pPr>
            <a:r>
              <a:rPr lang="en-US" sz="1050" b="1" dirty="0">
                <a:solidFill>
                  <a:srgbClr val="1B6CA8"/>
                </a:solidFill>
                <a:latin typeface="Calibri" pitchFamily="34" charset="0"/>
                <a:ea typeface="Calibri" pitchFamily="34" charset="-122"/>
                <a:cs typeface="Calibri" pitchFamily="34" charset="-120"/>
              </a:rPr>
              <a:t>768 original observations  →  724 retained after cleaning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2545"/>
          </a:solidFill>
          <a:ln w="12700">
            <a:solidFill>
              <a:srgbClr val="0B2545"/>
            </a:solidFill>
            <a:prstDash val="solid"/>
          </a:ln>
        </p:spPr>
      </p:sp>
      <p:sp>
        <p:nvSpPr>
          <p:cNvPr id="3" name="Text 1"/>
          <p:cNvSpPr/>
          <p:nvPr/>
        </p:nvSpPr>
        <p:spPr>
          <a:xfrm>
            <a:off x="457200" y="0"/>
            <a:ext cx="8229600" cy="777240"/>
          </a:xfrm>
          <a:prstGeom prst="rect">
            <a:avLst/>
          </a:prstGeom>
          <a:noFill/>
          <a:ln/>
        </p:spPr>
        <p:txBody>
          <a:bodyPr wrap="square" rtlCol="0" anchor="ctr"/>
          <a:lstStyle/>
          <a:p>
            <a:pPr algn="l" indent="0" marL="0">
              <a:buNone/>
            </a:pPr>
            <a:r>
              <a:rPr lang="en-US" sz="1300" b="1" spc="200" kern="0" dirty="0">
                <a:solidFill>
                  <a:srgbClr val="FFFFFF"/>
                </a:solidFill>
                <a:latin typeface="Calibri" pitchFamily="34" charset="0"/>
                <a:ea typeface="Calibri" pitchFamily="34" charset="-122"/>
                <a:cs typeface="Calibri" pitchFamily="34" charset="-120"/>
              </a:rPr>
              <a:t>DISTRIBUTION ASSESSMENT</a:t>
            </a:r>
            <a:endParaRPr lang="en-US" sz="1300" dirty="0"/>
          </a:p>
        </p:txBody>
      </p:sp>
      <p:sp>
        <p:nvSpPr>
          <p:cNvPr id="4" name="Shape 2"/>
          <p:cNvSpPr/>
          <p:nvPr/>
        </p:nvSpPr>
        <p:spPr>
          <a:xfrm>
            <a:off x="347472" y="914400"/>
            <a:ext cx="2697480" cy="1920240"/>
          </a:xfrm>
          <a:prstGeom prst="roundRect">
            <a:avLst>
              <a:gd name="adj" fmla="val 3810"/>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pic>
        <p:nvPicPr>
          <p:cNvPr id="5" name="Image 0" descr="/home/claude/Histogram__Glucose_.jpeg">    </p:cNvPr>
          <p:cNvPicPr>
            <a:picLocks noChangeAspect="1"/>
          </p:cNvPicPr>
          <p:nvPr/>
        </p:nvPicPr>
        <p:blipFill>
          <a:blip r:embed="rId1"/>
          <a:stretch>
            <a:fillRect/>
          </a:stretch>
        </p:blipFill>
        <p:spPr>
          <a:xfrm>
            <a:off x="420624" y="969264"/>
            <a:ext cx="2542032" cy="1481328"/>
          </a:xfrm>
          <a:prstGeom prst="rect">
            <a:avLst/>
          </a:prstGeom>
        </p:spPr>
      </p:pic>
      <p:sp>
        <p:nvSpPr>
          <p:cNvPr id="6" name="Text 3"/>
          <p:cNvSpPr/>
          <p:nvPr/>
        </p:nvSpPr>
        <p:spPr>
          <a:xfrm>
            <a:off x="402336" y="2468880"/>
            <a:ext cx="2578608" cy="320040"/>
          </a:xfrm>
          <a:prstGeom prst="rect">
            <a:avLst/>
          </a:prstGeom>
          <a:noFill/>
          <a:ln/>
        </p:spPr>
        <p:txBody>
          <a:bodyPr wrap="square" rtlCol="0" anchor="ctr"/>
          <a:lstStyle/>
          <a:p>
            <a:pPr algn="ctr" indent="0" marL="0">
              <a:buNone/>
            </a:pPr>
            <a:r>
              <a:rPr lang="en-US" sz="850" dirty="0">
                <a:solidFill>
                  <a:srgbClr val="3A5068"/>
                </a:solidFill>
                <a:latin typeface="Calibri" pitchFamily="34" charset="0"/>
                <a:ea typeface="Calibri" pitchFamily="34" charset="-122"/>
                <a:cs typeface="Calibri" pitchFamily="34" charset="-120"/>
              </a:rPr>
              <a:t>Glucose — broadly symmetric</a:t>
            </a:r>
            <a:endParaRPr lang="en-US" sz="850" dirty="0"/>
          </a:p>
        </p:txBody>
      </p:sp>
      <p:sp>
        <p:nvSpPr>
          <p:cNvPr id="7" name="Shape 4"/>
          <p:cNvSpPr/>
          <p:nvPr/>
        </p:nvSpPr>
        <p:spPr>
          <a:xfrm>
            <a:off x="3273552" y="914400"/>
            <a:ext cx="2697480" cy="1920240"/>
          </a:xfrm>
          <a:prstGeom prst="roundRect">
            <a:avLst>
              <a:gd name="adj" fmla="val 3810"/>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pic>
        <p:nvPicPr>
          <p:cNvPr id="8" name="Image 1" descr="/home/claude/Histogram__Blood_Pressure_.jpeg">    </p:cNvPr>
          <p:cNvPicPr>
            <a:picLocks noChangeAspect="1"/>
          </p:cNvPicPr>
          <p:nvPr/>
        </p:nvPicPr>
        <p:blipFill>
          <a:blip r:embed="rId2"/>
          <a:stretch>
            <a:fillRect/>
          </a:stretch>
        </p:blipFill>
        <p:spPr>
          <a:xfrm>
            <a:off x="3346704" y="969264"/>
            <a:ext cx="2542032" cy="1481328"/>
          </a:xfrm>
          <a:prstGeom prst="rect">
            <a:avLst/>
          </a:prstGeom>
        </p:spPr>
      </p:pic>
      <p:sp>
        <p:nvSpPr>
          <p:cNvPr id="9" name="Text 5"/>
          <p:cNvSpPr/>
          <p:nvPr/>
        </p:nvSpPr>
        <p:spPr>
          <a:xfrm>
            <a:off x="3328416" y="2468880"/>
            <a:ext cx="2578608" cy="320040"/>
          </a:xfrm>
          <a:prstGeom prst="rect">
            <a:avLst/>
          </a:prstGeom>
          <a:noFill/>
          <a:ln/>
        </p:spPr>
        <p:txBody>
          <a:bodyPr wrap="square" rtlCol="0" anchor="ctr"/>
          <a:lstStyle/>
          <a:p>
            <a:pPr algn="ctr" indent="0" marL="0">
              <a:buNone/>
            </a:pPr>
            <a:r>
              <a:rPr lang="en-US" sz="850" dirty="0">
                <a:solidFill>
                  <a:srgbClr val="3A5068"/>
                </a:solidFill>
                <a:latin typeface="Calibri" pitchFamily="34" charset="0"/>
                <a:ea typeface="Calibri" pitchFamily="34" charset="-122"/>
                <a:cs typeface="Calibri" pitchFamily="34" charset="-120"/>
              </a:rPr>
              <a:t>Blood Pressure — approximately normal</a:t>
            </a:r>
            <a:endParaRPr lang="en-US" sz="850" dirty="0"/>
          </a:p>
        </p:txBody>
      </p:sp>
      <p:sp>
        <p:nvSpPr>
          <p:cNvPr id="10" name="Shape 6"/>
          <p:cNvSpPr/>
          <p:nvPr/>
        </p:nvSpPr>
        <p:spPr>
          <a:xfrm>
            <a:off x="6199632" y="914400"/>
            <a:ext cx="2697480" cy="1920240"/>
          </a:xfrm>
          <a:prstGeom prst="roundRect">
            <a:avLst>
              <a:gd name="adj" fmla="val 3810"/>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pic>
        <p:nvPicPr>
          <p:cNvPr id="11" name="Image 2" descr="/home/claude/Histogram__BMI_.jpeg">    </p:cNvPr>
          <p:cNvPicPr>
            <a:picLocks noChangeAspect="1"/>
          </p:cNvPicPr>
          <p:nvPr/>
        </p:nvPicPr>
        <p:blipFill>
          <a:blip r:embed="rId3"/>
          <a:stretch>
            <a:fillRect/>
          </a:stretch>
        </p:blipFill>
        <p:spPr>
          <a:xfrm>
            <a:off x="6272784" y="969264"/>
            <a:ext cx="2542032" cy="1481328"/>
          </a:xfrm>
          <a:prstGeom prst="rect">
            <a:avLst/>
          </a:prstGeom>
        </p:spPr>
      </p:pic>
      <p:sp>
        <p:nvSpPr>
          <p:cNvPr id="12" name="Text 7"/>
          <p:cNvSpPr/>
          <p:nvPr/>
        </p:nvSpPr>
        <p:spPr>
          <a:xfrm>
            <a:off x="6254496" y="2468880"/>
            <a:ext cx="2578608" cy="320040"/>
          </a:xfrm>
          <a:prstGeom prst="rect">
            <a:avLst/>
          </a:prstGeom>
          <a:noFill/>
          <a:ln/>
        </p:spPr>
        <p:txBody>
          <a:bodyPr wrap="square" rtlCol="0" anchor="ctr"/>
          <a:lstStyle/>
          <a:p>
            <a:pPr algn="ctr" indent="0" marL="0">
              <a:buNone/>
            </a:pPr>
            <a:r>
              <a:rPr lang="en-US" sz="850" dirty="0">
                <a:solidFill>
                  <a:srgbClr val="3A5068"/>
                </a:solidFill>
                <a:latin typeface="Calibri" pitchFamily="34" charset="0"/>
                <a:ea typeface="Calibri" pitchFamily="34" charset="-122"/>
                <a:cs typeface="Calibri" pitchFamily="34" charset="-120"/>
              </a:rPr>
              <a:t>BMI — moderate right skew</a:t>
            </a:r>
            <a:endParaRPr lang="en-US" sz="850" dirty="0"/>
          </a:p>
        </p:txBody>
      </p:sp>
      <p:sp>
        <p:nvSpPr>
          <p:cNvPr id="13" name="Shape 8"/>
          <p:cNvSpPr/>
          <p:nvPr/>
        </p:nvSpPr>
        <p:spPr>
          <a:xfrm>
            <a:off x="347472" y="2971800"/>
            <a:ext cx="2697480" cy="1920240"/>
          </a:xfrm>
          <a:prstGeom prst="roundRect">
            <a:avLst>
              <a:gd name="adj" fmla="val 3810"/>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pic>
        <p:nvPicPr>
          <p:cNvPr id="14" name="Image 3" descr="/home/claude/Histogram__Age_.jpeg">    </p:cNvPr>
          <p:cNvPicPr>
            <a:picLocks noChangeAspect="1"/>
          </p:cNvPicPr>
          <p:nvPr/>
        </p:nvPicPr>
        <p:blipFill>
          <a:blip r:embed="rId4"/>
          <a:stretch>
            <a:fillRect/>
          </a:stretch>
        </p:blipFill>
        <p:spPr>
          <a:xfrm>
            <a:off x="420624" y="3026664"/>
            <a:ext cx="2542032" cy="1481328"/>
          </a:xfrm>
          <a:prstGeom prst="rect">
            <a:avLst/>
          </a:prstGeom>
        </p:spPr>
      </p:pic>
      <p:sp>
        <p:nvSpPr>
          <p:cNvPr id="15" name="Text 9"/>
          <p:cNvSpPr/>
          <p:nvPr/>
        </p:nvSpPr>
        <p:spPr>
          <a:xfrm>
            <a:off x="402336" y="4526280"/>
            <a:ext cx="2578608" cy="320040"/>
          </a:xfrm>
          <a:prstGeom prst="rect">
            <a:avLst/>
          </a:prstGeom>
          <a:noFill/>
          <a:ln/>
        </p:spPr>
        <p:txBody>
          <a:bodyPr wrap="square" rtlCol="0" anchor="ctr"/>
          <a:lstStyle/>
          <a:p>
            <a:pPr algn="ctr" indent="0" marL="0">
              <a:buNone/>
            </a:pPr>
            <a:r>
              <a:rPr lang="en-US" sz="850" dirty="0">
                <a:solidFill>
                  <a:srgbClr val="3A5068"/>
                </a:solidFill>
                <a:latin typeface="Calibri" pitchFamily="34" charset="0"/>
                <a:ea typeface="Calibri" pitchFamily="34" charset="-122"/>
                <a:cs typeface="Calibri" pitchFamily="34" charset="-120"/>
              </a:rPr>
              <a:t>Age — strong right skew</a:t>
            </a:r>
            <a:endParaRPr lang="en-US" sz="850" dirty="0"/>
          </a:p>
        </p:txBody>
      </p:sp>
      <p:sp>
        <p:nvSpPr>
          <p:cNvPr id="16" name="Shape 10"/>
          <p:cNvSpPr/>
          <p:nvPr/>
        </p:nvSpPr>
        <p:spPr>
          <a:xfrm>
            <a:off x="3273552" y="2971800"/>
            <a:ext cx="2697480" cy="1920240"/>
          </a:xfrm>
          <a:prstGeom prst="roundRect">
            <a:avLst>
              <a:gd name="adj" fmla="val 3810"/>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pic>
        <p:nvPicPr>
          <p:cNvPr id="17" name="Image 4" descr="/home/claude/Histogram__Diabetes_Pedigree_Function_.jpeg">    </p:cNvPr>
          <p:cNvPicPr>
            <a:picLocks noChangeAspect="1"/>
          </p:cNvPicPr>
          <p:nvPr/>
        </p:nvPicPr>
        <p:blipFill>
          <a:blip r:embed="rId5"/>
          <a:stretch>
            <a:fillRect/>
          </a:stretch>
        </p:blipFill>
        <p:spPr>
          <a:xfrm>
            <a:off x="3346704" y="3026664"/>
            <a:ext cx="2542032" cy="1481328"/>
          </a:xfrm>
          <a:prstGeom prst="rect">
            <a:avLst/>
          </a:prstGeom>
        </p:spPr>
      </p:pic>
      <p:sp>
        <p:nvSpPr>
          <p:cNvPr id="18" name="Text 11"/>
          <p:cNvSpPr/>
          <p:nvPr/>
        </p:nvSpPr>
        <p:spPr>
          <a:xfrm>
            <a:off x="3328416" y="4526280"/>
            <a:ext cx="2578608" cy="320040"/>
          </a:xfrm>
          <a:prstGeom prst="rect">
            <a:avLst/>
          </a:prstGeom>
          <a:noFill/>
          <a:ln/>
        </p:spPr>
        <p:txBody>
          <a:bodyPr wrap="square" rtlCol="0" anchor="ctr"/>
          <a:lstStyle/>
          <a:p>
            <a:pPr algn="ctr" indent="0" marL="0">
              <a:buNone/>
            </a:pPr>
            <a:r>
              <a:rPr lang="en-US" sz="850" dirty="0">
                <a:solidFill>
                  <a:srgbClr val="3A5068"/>
                </a:solidFill>
                <a:latin typeface="Calibri" pitchFamily="34" charset="0"/>
                <a:ea typeface="Calibri" pitchFamily="34" charset="-122"/>
                <a:cs typeface="Calibri" pitchFamily="34" charset="-120"/>
              </a:rPr>
              <a:t>DPF — heavy right skew</a:t>
            </a:r>
            <a:endParaRPr lang="en-US" sz="850" dirty="0"/>
          </a:p>
        </p:txBody>
      </p:sp>
      <p:sp>
        <p:nvSpPr>
          <p:cNvPr id="19" name="Shape 12"/>
          <p:cNvSpPr/>
          <p:nvPr/>
        </p:nvSpPr>
        <p:spPr>
          <a:xfrm>
            <a:off x="6199632" y="2971800"/>
            <a:ext cx="2697480" cy="1920240"/>
          </a:xfrm>
          <a:prstGeom prst="roundRect">
            <a:avLst>
              <a:gd name="adj" fmla="val 3810"/>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pic>
        <p:nvPicPr>
          <p:cNvPr id="20" name="Image 5" descr="/home/claude/Histogram__Pregnancies_.jpeg">    </p:cNvPr>
          <p:cNvPicPr>
            <a:picLocks noChangeAspect="1"/>
          </p:cNvPicPr>
          <p:nvPr/>
        </p:nvPicPr>
        <p:blipFill>
          <a:blip r:embed="rId6"/>
          <a:stretch>
            <a:fillRect/>
          </a:stretch>
        </p:blipFill>
        <p:spPr>
          <a:xfrm>
            <a:off x="6272784" y="3026664"/>
            <a:ext cx="2542032" cy="1481328"/>
          </a:xfrm>
          <a:prstGeom prst="rect">
            <a:avLst/>
          </a:prstGeom>
        </p:spPr>
      </p:pic>
      <p:sp>
        <p:nvSpPr>
          <p:cNvPr id="21" name="Text 13"/>
          <p:cNvSpPr/>
          <p:nvPr/>
        </p:nvSpPr>
        <p:spPr>
          <a:xfrm>
            <a:off x="6254496" y="4526280"/>
            <a:ext cx="2578608" cy="320040"/>
          </a:xfrm>
          <a:prstGeom prst="rect">
            <a:avLst/>
          </a:prstGeom>
          <a:noFill/>
          <a:ln/>
        </p:spPr>
        <p:txBody>
          <a:bodyPr wrap="square" rtlCol="0" anchor="ctr"/>
          <a:lstStyle/>
          <a:p>
            <a:pPr algn="ctr" indent="0" marL="0">
              <a:buNone/>
            </a:pPr>
            <a:r>
              <a:rPr lang="en-US" sz="850" dirty="0">
                <a:solidFill>
                  <a:srgbClr val="3A5068"/>
                </a:solidFill>
                <a:latin typeface="Calibri" pitchFamily="34" charset="0"/>
                <a:ea typeface="Calibri" pitchFamily="34" charset="-122"/>
                <a:cs typeface="Calibri" pitchFamily="34" charset="-120"/>
              </a:rPr>
              <a:t>Pregnancies — count data, skewed</a:t>
            </a:r>
            <a:endParaRPr lang="en-US" sz="850" dirty="0"/>
          </a:p>
        </p:txBody>
      </p:sp>
      <p:sp>
        <p:nvSpPr>
          <p:cNvPr id="22" name="Shape 14"/>
          <p:cNvSpPr/>
          <p:nvPr/>
        </p:nvSpPr>
        <p:spPr>
          <a:xfrm>
            <a:off x="8869680" y="914400"/>
            <a:ext cx="91440" cy="4023360"/>
          </a:xfrm>
          <a:prstGeom prst="roundRect">
            <a:avLst/>
          </a:prstGeom>
          <a:solidFill>
            <a:srgbClr val="1B6CA8"/>
          </a:solidFill>
          <a:ln w="12700">
            <a:solidFill>
              <a:srgbClr val="1B6CA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algn="l" indent="0" marL="0">
              <a:buNone/>
            </a:pPr>
            <a:r>
              <a:rPr lang="en-US" sz="1300" b="1" spc="200" kern="0" dirty="0">
                <a:solidFill>
                  <a:srgbClr val="8FB8D4"/>
                </a:solidFill>
                <a:latin typeface="Calibri" pitchFamily="34" charset="0"/>
                <a:ea typeface="Calibri" pitchFamily="34" charset="-122"/>
                <a:cs typeface="Calibri" pitchFamily="34" charset="-120"/>
              </a:rPr>
              <a:t>CORRELATION METHOD SELECTION</a:t>
            </a:r>
            <a:endParaRPr lang="en-US" sz="1300" dirty="0"/>
          </a:p>
        </p:txBody>
      </p:sp>
      <p:sp>
        <p:nvSpPr>
          <p:cNvPr id="3" name="Text 1"/>
          <p:cNvSpPr/>
          <p:nvPr/>
        </p:nvSpPr>
        <p:spPr>
          <a:xfrm>
            <a:off x="457200" y="749808"/>
            <a:ext cx="8229600" cy="347472"/>
          </a:xfrm>
          <a:prstGeom prst="rect">
            <a:avLst/>
          </a:prstGeom>
          <a:noFill/>
          <a:ln/>
        </p:spPr>
        <p:txBody>
          <a:bodyPr wrap="square" rtlCol="0" anchor="ctr"/>
          <a:lstStyle/>
          <a:p>
            <a:pPr algn="l" indent="0" marL="0">
              <a:buNone/>
            </a:pPr>
            <a:r>
              <a:rPr lang="en-US" sz="1400" dirty="0">
                <a:solidFill>
                  <a:srgbClr val="FFFFFF"/>
                </a:solidFill>
                <a:latin typeface="Cambria" pitchFamily="34" charset="0"/>
                <a:ea typeface="Cambria" pitchFamily="34" charset="-122"/>
                <a:cs typeface="Cambria" pitchFamily="34" charset="-120"/>
              </a:rPr>
              <a:t>Three methods, justified by variable characteristics</a:t>
            </a:r>
            <a:endParaRPr lang="en-US" sz="1400" dirty="0"/>
          </a:p>
        </p:txBody>
      </p:sp>
      <p:sp>
        <p:nvSpPr>
          <p:cNvPr id="4" name="Shape 2"/>
          <p:cNvSpPr/>
          <p:nvPr/>
        </p:nvSpPr>
        <p:spPr>
          <a:xfrm>
            <a:off x="347472" y="1234440"/>
            <a:ext cx="2697480" cy="3657600"/>
          </a:xfrm>
          <a:prstGeom prst="roundRect">
            <a:avLst>
              <a:gd name="adj" fmla="val 4068"/>
            </a:avLst>
          </a:prstGeom>
          <a:solidFill>
            <a:srgbClr val="1A3A5C"/>
          </a:solidFill>
          <a:ln w="12700">
            <a:solidFill>
              <a:srgbClr val="1B6CA8">
                <a:alpha val="70000"/>
              </a:srgbClr>
            </a:solidFill>
            <a:prstDash val="solid"/>
          </a:ln>
        </p:spPr>
      </p:sp>
      <p:sp>
        <p:nvSpPr>
          <p:cNvPr id="5" name="Shape 3"/>
          <p:cNvSpPr/>
          <p:nvPr/>
        </p:nvSpPr>
        <p:spPr>
          <a:xfrm>
            <a:off x="347472" y="1234440"/>
            <a:ext cx="2697480" cy="594360"/>
          </a:xfrm>
          <a:prstGeom prst="roundRect">
            <a:avLst>
              <a:gd name="adj" fmla="val 18462"/>
            </a:avLst>
          </a:prstGeom>
          <a:solidFill>
            <a:srgbClr val="1B6CA8"/>
          </a:solidFill>
          <a:ln w="12700">
            <a:solidFill>
              <a:srgbClr val="1B6CA8"/>
            </a:solidFill>
            <a:prstDash val="solid"/>
          </a:ln>
        </p:spPr>
      </p:sp>
      <p:sp>
        <p:nvSpPr>
          <p:cNvPr id="6" name="Text 4"/>
          <p:cNvSpPr/>
          <p:nvPr/>
        </p:nvSpPr>
        <p:spPr>
          <a:xfrm>
            <a:off x="438912" y="1234440"/>
            <a:ext cx="2514600" cy="59436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Point-Biserial</a:t>
            </a:r>
            <a:endParaRPr lang="en-US" sz="1400" dirty="0"/>
          </a:p>
        </p:txBody>
      </p:sp>
      <p:sp>
        <p:nvSpPr>
          <p:cNvPr id="7" name="Text 5"/>
          <p:cNvSpPr/>
          <p:nvPr/>
        </p:nvSpPr>
        <p:spPr>
          <a:xfrm>
            <a:off x="484632" y="1920240"/>
            <a:ext cx="2423160" cy="256032"/>
          </a:xfrm>
          <a:prstGeom prst="rect">
            <a:avLst/>
          </a:prstGeom>
          <a:noFill/>
          <a:ln/>
        </p:spPr>
        <p:txBody>
          <a:bodyPr wrap="square" lIns="0" tIns="0" rIns="0" bIns="0" rtlCol="0" anchor="ctr"/>
          <a:lstStyle/>
          <a:p>
            <a:pPr algn="l" indent="0" marL="0">
              <a:buNone/>
            </a:pPr>
            <a:r>
              <a:rPr lang="en-US" sz="900" b="1" dirty="0">
                <a:solidFill>
                  <a:srgbClr val="A8C8E8"/>
                </a:solidFill>
                <a:latin typeface="Calibri" pitchFamily="34" charset="0"/>
                <a:ea typeface="Calibri" pitchFamily="34" charset="-122"/>
                <a:cs typeface="Calibri" pitchFamily="34" charset="-120"/>
              </a:rPr>
              <a:t>When to use:</a:t>
            </a:r>
            <a:endParaRPr lang="en-US" sz="900" dirty="0"/>
          </a:p>
        </p:txBody>
      </p:sp>
      <p:sp>
        <p:nvSpPr>
          <p:cNvPr id="8" name="Text 6"/>
          <p:cNvSpPr/>
          <p:nvPr/>
        </p:nvSpPr>
        <p:spPr>
          <a:xfrm>
            <a:off x="484632" y="2157984"/>
            <a:ext cx="2423160" cy="365760"/>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One binary variable (0/1)</a:t>
            </a:r>
            <a:endParaRPr lang="en-US" sz="950" dirty="0"/>
          </a:p>
        </p:txBody>
      </p:sp>
      <p:sp>
        <p:nvSpPr>
          <p:cNvPr id="9" name="Text 7"/>
          <p:cNvSpPr/>
          <p:nvPr/>
        </p:nvSpPr>
        <p:spPr>
          <a:xfrm>
            <a:off x="484632" y="2606040"/>
            <a:ext cx="2423160" cy="256032"/>
          </a:xfrm>
          <a:prstGeom prst="rect">
            <a:avLst/>
          </a:prstGeom>
          <a:noFill/>
          <a:ln/>
        </p:spPr>
        <p:txBody>
          <a:bodyPr wrap="square" lIns="0" tIns="0" rIns="0" bIns="0" rtlCol="0" anchor="ctr"/>
          <a:lstStyle/>
          <a:p>
            <a:pPr algn="l" indent="0" marL="0">
              <a:buNone/>
            </a:pPr>
            <a:r>
              <a:rPr lang="en-US" sz="900" b="1" dirty="0">
                <a:solidFill>
                  <a:srgbClr val="A8C8E8"/>
                </a:solidFill>
                <a:latin typeface="Calibri" pitchFamily="34" charset="0"/>
                <a:ea typeface="Calibri" pitchFamily="34" charset="-122"/>
                <a:cs typeface="Calibri" pitchFamily="34" charset="-120"/>
              </a:rPr>
              <a:t>Variable pairs:</a:t>
            </a:r>
            <a:endParaRPr lang="en-US" sz="900" dirty="0"/>
          </a:p>
        </p:txBody>
      </p:sp>
      <p:sp>
        <p:nvSpPr>
          <p:cNvPr id="10" name="Text 8"/>
          <p:cNvSpPr/>
          <p:nvPr/>
        </p:nvSpPr>
        <p:spPr>
          <a:xfrm>
            <a:off x="484632" y="2862072"/>
            <a:ext cx="2423160" cy="274320"/>
          </a:xfrm>
          <a:prstGeom prst="rect">
            <a:avLst/>
          </a:prstGeom>
          <a:noFill/>
          <a:ln/>
        </p:spPr>
        <p:txBody>
          <a:bodyPr wrap="square" lIns="0" tIns="0" rIns="0" bIns="0" rtlCol="0" anchor="ctr"/>
          <a:lstStyle/>
          <a:p>
            <a:pPr algn="l" indent="0" marL="0">
              <a:buNone/>
            </a:pPr>
            <a:r>
              <a:rPr lang="en-US" sz="950" dirty="0">
                <a:solidFill>
                  <a:srgbClr val="DDEEFF"/>
                </a:solidFill>
                <a:latin typeface="Calibri" pitchFamily="34" charset="0"/>
                <a:ea typeface="Calibri" pitchFamily="34" charset="-122"/>
                <a:cs typeface="Calibri" pitchFamily="34" charset="-120"/>
              </a:rPr>
              <a:t>· Outcome ↔ Glucose</a:t>
            </a:r>
            <a:endParaRPr lang="en-US" sz="950" dirty="0"/>
          </a:p>
        </p:txBody>
      </p:sp>
      <p:sp>
        <p:nvSpPr>
          <p:cNvPr id="11" name="Text 9"/>
          <p:cNvSpPr/>
          <p:nvPr/>
        </p:nvSpPr>
        <p:spPr>
          <a:xfrm>
            <a:off x="484632" y="3145536"/>
            <a:ext cx="2423160" cy="274320"/>
          </a:xfrm>
          <a:prstGeom prst="rect">
            <a:avLst/>
          </a:prstGeom>
          <a:noFill/>
          <a:ln/>
        </p:spPr>
        <p:txBody>
          <a:bodyPr wrap="square" lIns="0" tIns="0" rIns="0" bIns="0" rtlCol="0" anchor="ctr"/>
          <a:lstStyle/>
          <a:p>
            <a:pPr algn="l" indent="0" marL="0">
              <a:buNone/>
            </a:pPr>
            <a:r>
              <a:rPr lang="en-US" sz="950" dirty="0">
                <a:solidFill>
                  <a:srgbClr val="DDEEFF"/>
                </a:solidFill>
                <a:latin typeface="Calibri" pitchFamily="34" charset="0"/>
                <a:ea typeface="Calibri" pitchFamily="34" charset="-122"/>
                <a:cs typeface="Calibri" pitchFamily="34" charset="-120"/>
              </a:rPr>
              <a:t>· Outcome ↔ BMI</a:t>
            </a:r>
            <a:endParaRPr lang="en-US" sz="950" dirty="0"/>
          </a:p>
        </p:txBody>
      </p:sp>
      <p:sp>
        <p:nvSpPr>
          <p:cNvPr id="12" name="Text 10"/>
          <p:cNvSpPr/>
          <p:nvPr/>
        </p:nvSpPr>
        <p:spPr>
          <a:xfrm>
            <a:off x="484632" y="3429000"/>
            <a:ext cx="2423160" cy="274320"/>
          </a:xfrm>
          <a:prstGeom prst="rect">
            <a:avLst/>
          </a:prstGeom>
          <a:noFill/>
          <a:ln/>
        </p:spPr>
        <p:txBody>
          <a:bodyPr wrap="square" lIns="0" tIns="0" rIns="0" bIns="0" rtlCol="0" anchor="ctr"/>
          <a:lstStyle/>
          <a:p>
            <a:pPr algn="l" indent="0" marL="0">
              <a:buNone/>
            </a:pPr>
            <a:r>
              <a:rPr lang="en-US" sz="950" dirty="0">
                <a:solidFill>
                  <a:srgbClr val="DDEEFF"/>
                </a:solidFill>
                <a:latin typeface="Calibri" pitchFamily="34" charset="0"/>
                <a:ea typeface="Calibri" pitchFamily="34" charset="-122"/>
                <a:cs typeface="Calibri" pitchFamily="34" charset="-120"/>
              </a:rPr>
              <a:t>· Outcome ↔ Age</a:t>
            </a:r>
            <a:endParaRPr lang="en-US" sz="950" dirty="0"/>
          </a:p>
        </p:txBody>
      </p:sp>
      <p:sp>
        <p:nvSpPr>
          <p:cNvPr id="13" name="Text 11"/>
          <p:cNvSpPr/>
          <p:nvPr/>
        </p:nvSpPr>
        <p:spPr>
          <a:xfrm>
            <a:off x="484632" y="3712464"/>
            <a:ext cx="2423160" cy="274320"/>
          </a:xfrm>
          <a:prstGeom prst="rect">
            <a:avLst/>
          </a:prstGeom>
          <a:noFill/>
          <a:ln/>
        </p:spPr>
        <p:txBody>
          <a:bodyPr wrap="square" lIns="0" tIns="0" rIns="0" bIns="0" rtlCol="0" anchor="ctr"/>
          <a:lstStyle/>
          <a:p>
            <a:pPr algn="l" indent="0" marL="0">
              <a:buNone/>
            </a:pPr>
            <a:r>
              <a:rPr lang="en-US" sz="950" dirty="0">
                <a:solidFill>
                  <a:srgbClr val="DDEEFF"/>
                </a:solidFill>
                <a:latin typeface="Calibri" pitchFamily="34" charset="0"/>
                <a:ea typeface="Calibri" pitchFamily="34" charset="-122"/>
                <a:cs typeface="Calibri" pitchFamily="34" charset="-120"/>
              </a:rPr>
              <a:t>· Outcome ↔ Blood Pressure</a:t>
            </a:r>
            <a:endParaRPr lang="en-US" sz="950" dirty="0"/>
          </a:p>
        </p:txBody>
      </p:sp>
      <p:sp>
        <p:nvSpPr>
          <p:cNvPr id="14" name="Shape 12"/>
          <p:cNvSpPr/>
          <p:nvPr/>
        </p:nvSpPr>
        <p:spPr>
          <a:xfrm>
            <a:off x="457200" y="4480560"/>
            <a:ext cx="2468880" cy="274320"/>
          </a:xfrm>
          <a:prstGeom prst="roundRect">
            <a:avLst>
              <a:gd name="adj" fmla="val 16667"/>
            </a:avLst>
          </a:prstGeom>
          <a:solidFill>
            <a:srgbClr val="1B6CA8">
              <a:alpha val="35000"/>
            </a:srgbClr>
          </a:solidFill>
          <a:ln w="12700">
            <a:solidFill>
              <a:srgbClr val="1B6CA8">
                <a:alpha val="50000"/>
              </a:srgbClr>
            </a:solidFill>
            <a:prstDash val="solid"/>
          </a:ln>
        </p:spPr>
      </p:sp>
      <p:sp>
        <p:nvSpPr>
          <p:cNvPr id="15" name="Text 13"/>
          <p:cNvSpPr/>
          <p:nvPr/>
        </p:nvSpPr>
        <p:spPr>
          <a:xfrm>
            <a:off x="484632" y="4462272"/>
            <a:ext cx="2423160" cy="320040"/>
          </a:xfrm>
          <a:prstGeom prst="rect">
            <a:avLst/>
          </a:prstGeom>
          <a:noFill/>
          <a:ln/>
        </p:spPr>
        <p:txBody>
          <a:bodyPr wrap="square" lIns="0" tIns="0" rIns="0" bIns="0" rtlCol="0" anchor="ctr"/>
          <a:lstStyle/>
          <a:p>
            <a:pPr algn="l" indent="0" marL="0">
              <a:buNone/>
            </a:pPr>
            <a:r>
              <a:rPr lang="en-US" sz="750" i="1" dirty="0">
                <a:solidFill>
                  <a:srgbClr val="CCE8FF"/>
                </a:solidFill>
                <a:latin typeface="Calibri" pitchFamily="34" charset="0"/>
                <a:ea typeface="Calibri" pitchFamily="34" charset="-122"/>
                <a:cs typeface="Calibri" pitchFamily="34" charset="-120"/>
              </a:rPr>
              <a:t>Mathematically equivalent to Pearson when one variable is dichotomous</a:t>
            </a:r>
            <a:endParaRPr lang="en-US" sz="750" dirty="0"/>
          </a:p>
        </p:txBody>
      </p:sp>
      <p:sp>
        <p:nvSpPr>
          <p:cNvPr id="16" name="Shape 14"/>
          <p:cNvSpPr/>
          <p:nvPr/>
        </p:nvSpPr>
        <p:spPr>
          <a:xfrm>
            <a:off x="3273552" y="1234440"/>
            <a:ext cx="2697480" cy="3657600"/>
          </a:xfrm>
          <a:prstGeom prst="roundRect">
            <a:avLst>
              <a:gd name="adj" fmla="val 4068"/>
            </a:avLst>
          </a:prstGeom>
          <a:solidFill>
            <a:srgbClr val="1A3A5C"/>
          </a:solidFill>
          <a:ln w="12700">
            <a:solidFill>
              <a:srgbClr val="F4A261">
                <a:alpha val="70000"/>
              </a:srgbClr>
            </a:solidFill>
            <a:prstDash val="solid"/>
          </a:ln>
        </p:spPr>
      </p:sp>
      <p:sp>
        <p:nvSpPr>
          <p:cNvPr id="17" name="Shape 15"/>
          <p:cNvSpPr/>
          <p:nvPr/>
        </p:nvSpPr>
        <p:spPr>
          <a:xfrm>
            <a:off x="3273552" y="1234440"/>
            <a:ext cx="2697480" cy="594360"/>
          </a:xfrm>
          <a:prstGeom prst="roundRect">
            <a:avLst>
              <a:gd name="adj" fmla="val 18462"/>
            </a:avLst>
          </a:prstGeom>
          <a:solidFill>
            <a:srgbClr val="F4A261"/>
          </a:solidFill>
          <a:ln w="12700">
            <a:solidFill>
              <a:srgbClr val="F4A261"/>
            </a:solidFill>
            <a:prstDash val="solid"/>
          </a:ln>
        </p:spPr>
      </p:sp>
      <p:sp>
        <p:nvSpPr>
          <p:cNvPr id="18" name="Text 16"/>
          <p:cNvSpPr/>
          <p:nvPr/>
        </p:nvSpPr>
        <p:spPr>
          <a:xfrm>
            <a:off x="3364992" y="1234440"/>
            <a:ext cx="2514600" cy="59436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Pearson</a:t>
            </a:r>
            <a:endParaRPr lang="en-US" sz="1400" dirty="0"/>
          </a:p>
        </p:txBody>
      </p:sp>
      <p:sp>
        <p:nvSpPr>
          <p:cNvPr id="19" name="Text 17"/>
          <p:cNvSpPr/>
          <p:nvPr/>
        </p:nvSpPr>
        <p:spPr>
          <a:xfrm>
            <a:off x="3410712" y="1920240"/>
            <a:ext cx="2423160" cy="256032"/>
          </a:xfrm>
          <a:prstGeom prst="rect">
            <a:avLst/>
          </a:prstGeom>
          <a:noFill/>
          <a:ln/>
        </p:spPr>
        <p:txBody>
          <a:bodyPr wrap="square" lIns="0" tIns="0" rIns="0" bIns="0" rtlCol="0" anchor="ctr"/>
          <a:lstStyle/>
          <a:p>
            <a:pPr algn="l" indent="0" marL="0">
              <a:buNone/>
            </a:pPr>
            <a:r>
              <a:rPr lang="en-US" sz="900" b="1" dirty="0">
                <a:solidFill>
                  <a:srgbClr val="A8C8E8"/>
                </a:solidFill>
                <a:latin typeface="Calibri" pitchFamily="34" charset="0"/>
                <a:ea typeface="Calibri" pitchFamily="34" charset="-122"/>
                <a:cs typeface="Calibri" pitchFamily="34" charset="-120"/>
              </a:rPr>
              <a:t>When to use:</a:t>
            </a:r>
            <a:endParaRPr lang="en-US" sz="900" dirty="0"/>
          </a:p>
        </p:txBody>
      </p:sp>
      <p:sp>
        <p:nvSpPr>
          <p:cNvPr id="20" name="Text 18"/>
          <p:cNvSpPr/>
          <p:nvPr/>
        </p:nvSpPr>
        <p:spPr>
          <a:xfrm>
            <a:off x="3410712" y="2157984"/>
            <a:ext cx="2423160" cy="365760"/>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Both continuous, approx. linear, no severe violations</a:t>
            </a:r>
            <a:endParaRPr lang="en-US" sz="950" dirty="0"/>
          </a:p>
        </p:txBody>
      </p:sp>
      <p:sp>
        <p:nvSpPr>
          <p:cNvPr id="21" name="Text 19"/>
          <p:cNvSpPr/>
          <p:nvPr/>
        </p:nvSpPr>
        <p:spPr>
          <a:xfrm>
            <a:off x="3410712" y="2606040"/>
            <a:ext cx="2423160" cy="256032"/>
          </a:xfrm>
          <a:prstGeom prst="rect">
            <a:avLst/>
          </a:prstGeom>
          <a:noFill/>
          <a:ln/>
        </p:spPr>
        <p:txBody>
          <a:bodyPr wrap="square" lIns="0" tIns="0" rIns="0" bIns="0" rtlCol="0" anchor="ctr"/>
          <a:lstStyle/>
          <a:p>
            <a:pPr algn="l" indent="0" marL="0">
              <a:buNone/>
            </a:pPr>
            <a:r>
              <a:rPr lang="en-US" sz="900" b="1" dirty="0">
                <a:solidFill>
                  <a:srgbClr val="A8C8E8"/>
                </a:solidFill>
                <a:latin typeface="Calibri" pitchFamily="34" charset="0"/>
                <a:ea typeface="Calibri" pitchFamily="34" charset="-122"/>
                <a:cs typeface="Calibri" pitchFamily="34" charset="-120"/>
              </a:rPr>
              <a:t>Variable pairs:</a:t>
            </a:r>
            <a:endParaRPr lang="en-US" sz="900" dirty="0"/>
          </a:p>
        </p:txBody>
      </p:sp>
      <p:sp>
        <p:nvSpPr>
          <p:cNvPr id="22" name="Text 20"/>
          <p:cNvSpPr/>
          <p:nvPr/>
        </p:nvSpPr>
        <p:spPr>
          <a:xfrm>
            <a:off x="3410712" y="2862072"/>
            <a:ext cx="2423160" cy="274320"/>
          </a:xfrm>
          <a:prstGeom prst="rect">
            <a:avLst/>
          </a:prstGeom>
          <a:noFill/>
          <a:ln/>
        </p:spPr>
        <p:txBody>
          <a:bodyPr wrap="square" lIns="0" tIns="0" rIns="0" bIns="0" rtlCol="0" anchor="ctr"/>
          <a:lstStyle/>
          <a:p>
            <a:pPr algn="l" indent="0" marL="0">
              <a:buNone/>
            </a:pPr>
            <a:r>
              <a:rPr lang="en-US" sz="950" dirty="0">
                <a:solidFill>
                  <a:srgbClr val="DDEEFF"/>
                </a:solidFill>
                <a:latin typeface="Calibri" pitchFamily="34" charset="0"/>
                <a:ea typeface="Calibri" pitchFamily="34" charset="-122"/>
                <a:cs typeface="Calibri" pitchFamily="34" charset="-120"/>
              </a:rPr>
              <a:t>· Glucose ↔ BMI</a:t>
            </a:r>
            <a:endParaRPr lang="en-US" sz="950" dirty="0"/>
          </a:p>
        </p:txBody>
      </p:sp>
      <p:sp>
        <p:nvSpPr>
          <p:cNvPr id="23" name="Text 21"/>
          <p:cNvSpPr/>
          <p:nvPr/>
        </p:nvSpPr>
        <p:spPr>
          <a:xfrm>
            <a:off x="3410712" y="3145536"/>
            <a:ext cx="2423160" cy="274320"/>
          </a:xfrm>
          <a:prstGeom prst="rect">
            <a:avLst/>
          </a:prstGeom>
          <a:noFill/>
          <a:ln/>
        </p:spPr>
        <p:txBody>
          <a:bodyPr wrap="square" lIns="0" tIns="0" rIns="0" bIns="0" rtlCol="0" anchor="ctr"/>
          <a:lstStyle/>
          <a:p>
            <a:pPr algn="l" indent="0" marL="0">
              <a:buNone/>
            </a:pPr>
            <a:r>
              <a:rPr lang="en-US" sz="950" dirty="0">
                <a:solidFill>
                  <a:srgbClr val="DDEEFF"/>
                </a:solidFill>
                <a:latin typeface="Calibri" pitchFamily="34" charset="0"/>
                <a:ea typeface="Calibri" pitchFamily="34" charset="-122"/>
                <a:cs typeface="Calibri" pitchFamily="34" charset="-120"/>
              </a:rPr>
              <a:t>· Age ↔ Blood Pressure</a:t>
            </a:r>
            <a:endParaRPr lang="en-US" sz="950" dirty="0"/>
          </a:p>
        </p:txBody>
      </p:sp>
      <p:sp>
        <p:nvSpPr>
          <p:cNvPr id="24" name="Shape 22"/>
          <p:cNvSpPr/>
          <p:nvPr/>
        </p:nvSpPr>
        <p:spPr>
          <a:xfrm>
            <a:off x="3383280" y="4480560"/>
            <a:ext cx="2468880" cy="274320"/>
          </a:xfrm>
          <a:prstGeom prst="roundRect">
            <a:avLst>
              <a:gd name="adj" fmla="val 16667"/>
            </a:avLst>
          </a:prstGeom>
          <a:solidFill>
            <a:srgbClr val="F4A261">
              <a:alpha val="35000"/>
            </a:srgbClr>
          </a:solidFill>
          <a:ln w="12700">
            <a:solidFill>
              <a:srgbClr val="F4A261">
                <a:alpha val="50000"/>
              </a:srgbClr>
            </a:solidFill>
            <a:prstDash val="solid"/>
          </a:ln>
        </p:spPr>
      </p:sp>
      <p:sp>
        <p:nvSpPr>
          <p:cNvPr id="25" name="Text 23"/>
          <p:cNvSpPr/>
          <p:nvPr/>
        </p:nvSpPr>
        <p:spPr>
          <a:xfrm>
            <a:off x="3410712" y="4462272"/>
            <a:ext cx="2423160" cy="320040"/>
          </a:xfrm>
          <a:prstGeom prst="rect">
            <a:avLst/>
          </a:prstGeom>
          <a:noFill/>
          <a:ln/>
        </p:spPr>
        <p:txBody>
          <a:bodyPr wrap="square" lIns="0" tIns="0" rIns="0" bIns="0" rtlCol="0" anchor="ctr"/>
          <a:lstStyle/>
          <a:p>
            <a:pPr algn="l" indent="0" marL="0">
              <a:buNone/>
            </a:pPr>
            <a:r>
              <a:rPr lang="en-US" sz="750" i="1" dirty="0">
                <a:solidFill>
                  <a:srgbClr val="CCE8FF"/>
                </a:solidFill>
                <a:latin typeface="Calibri" pitchFamily="34" charset="0"/>
                <a:ea typeface="Calibri" pitchFamily="34" charset="-122"/>
                <a:cs typeface="Calibri" pitchFamily="34" charset="-120"/>
              </a:rPr>
              <a:t>Scatterplots confirmed linear trends; mild heteroscedasticity noted for Age vs BP</a:t>
            </a:r>
            <a:endParaRPr lang="en-US" sz="750" dirty="0"/>
          </a:p>
        </p:txBody>
      </p:sp>
      <p:sp>
        <p:nvSpPr>
          <p:cNvPr id="26" name="Shape 24"/>
          <p:cNvSpPr/>
          <p:nvPr/>
        </p:nvSpPr>
        <p:spPr>
          <a:xfrm>
            <a:off x="6199632" y="1234440"/>
            <a:ext cx="2697480" cy="3657600"/>
          </a:xfrm>
          <a:prstGeom prst="roundRect">
            <a:avLst>
              <a:gd name="adj" fmla="val 4068"/>
            </a:avLst>
          </a:prstGeom>
          <a:solidFill>
            <a:srgbClr val="1A3A5C"/>
          </a:solidFill>
          <a:ln w="12700">
            <a:solidFill>
              <a:srgbClr val="9B72CF">
                <a:alpha val="70000"/>
              </a:srgbClr>
            </a:solidFill>
            <a:prstDash val="solid"/>
          </a:ln>
        </p:spPr>
      </p:sp>
      <p:sp>
        <p:nvSpPr>
          <p:cNvPr id="27" name="Shape 25"/>
          <p:cNvSpPr/>
          <p:nvPr/>
        </p:nvSpPr>
        <p:spPr>
          <a:xfrm>
            <a:off x="6199632" y="1234440"/>
            <a:ext cx="2697480" cy="594360"/>
          </a:xfrm>
          <a:prstGeom prst="roundRect">
            <a:avLst>
              <a:gd name="adj" fmla="val 18462"/>
            </a:avLst>
          </a:prstGeom>
          <a:solidFill>
            <a:srgbClr val="9B72CF"/>
          </a:solidFill>
          <a:ln w="12700">
            <a:solidFill>
              <a:srgbClr val="9B72CF"/>
            </a:solidFill>
            <a:prstDash val="solid"/>
          </a:ln>
        </p:spPr>
      </p:sp>
      <p:sp>
        <p:nvSpPr>
          <p:cNvPr id="28" name="Text 26"/>
          <p:cNvSpPr/>
          <p:nvPr/>
        </p:nvSpPr>
        <p:spPr>
          <a:xfrm>
            <a:off x="6291072" y="1234440"/>
            <a:ext cx="2514600" cy="59436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Spearman</a:t>
            </a:r>
            <a:endParaRPr lang="en-US" sz="1400" dirty="0"/>
          </a:p>
        </p:txBody>
      </p:sp>
      <p:sp>
        <p:nvSpPr>
          <p:cNvPr id="29" name="Text 27"/>
          <p:cNvSpPr/>
          <p:nvPr/>
        </p:nvSpPr>
        <p:spPr>
          <a:xfrm>
            <a:off x="6336792" y="1920240"/>
            <a:ext cx="2423160" cy="256032"/>
          </a:xfrm>
          <a:prstGeom prst="rect">
            <a:avLst/>
          </a:prstGeom>
          <a:noFill/>
          <a:ln/>
        </p:spPr>
        <p:txBody>
          <a:bodyPr wrap="square" lIns="0" tIns="0" rIns="0" bIns="0" rtlCol="0" anchor="ctr"/>
          <a:lstStyle/>
          <a:p>
            <a:pPr algn="l" indent="0" marL="0">
              <a:buNone/>
            </a:pPr>
            <a:r>
              <a:rPr lang="en-US" sz="900" b="1" dirty="0">
                <a:solidFill>
                  <a:srgbClr val="A8C8E8"/>
                </a:solidFill>
                <a:latin typeface="Calibri" pitchFamily="34" charset="0"/>
                <a:ea typeface="Calibri" pitchFamily="34" charset="-122"/>
                <a:cs typeface="Calibri" pitchFamily="34" charset="-120"/>
              </a:rPr>
              <a:t>When to use:</a:t>
            </a:r>
            <a:endParaRPr lang="en-US" sz="900" dirty="0"/>
          </a:p>
        </p:txBody>
      </p:sp>
      <p:sp>
        <p:nvSpPr>
          <p:cNvPr id="30" name="Text 28"/>
          <p:cNvSpPr/>
          <p:nvPr/>
        </p:nvSpPr>
        <p:spPr>
          <a:xfrm>
            <a:off x="6336792" y="2157984"/>
            <a:ext cx="2423160" cy="365760"/>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Non-normal, count data, or monotonic relationship</a:t>
            </a:r>
            <a:endParaRPr lang="en-US" sz="950" dirty="0"/>
          </a:p>
        </p:txBody>
      </p:sp>
      <p:sp>
        <p:nvSpPr>
          <p:cNvPr id="31" name="Text 29"/>
          <p:cNvSpPr/>
          <p:nvPr/>
        </p:nvSpPr>
        <p:spPr>
          <a:xfrm>
            <a:off x="6336792" y="2606040"/>
            <a:ext cx="2423160" cy="256032"/>
          </a:xfrm>
          <a:prstGeom prst="rect">
            <a:avLst/>
          </a:prstGeom>
          <a:noFill/>
          <a:ln/>
        </p:spPr>
        <p:txBody>
          <a:bodyPr wrap="square" lIns="0" tIns="0" rIns="0" bIns="0" rtlCol="0" anchor="ctr"/>
          <a:lstStyle/>
          <a:p>
            <a:pPr algn="l" indent="0" marL="0">
              <a:buNone/>
            </a:pPr>
            <a:r>
              <a:rPr lang="en-US" sz="900" b="1" dirty="0">
                <a:solidFill>
                  <a:srgbClr val="A8C8E8"/>
                </a:solidFill>
                <a:latin typeface="Calibri" pitchFamily="34" charset="0"/>
                <a:ea typeface="Calibri" pitchFamily="34" charset="-122"/>
                <a:cs typeface="Calibri" pitchFamily="34" charset="-120"/>
              </a:rPr>
              <a:t>Variable pairs:</a:t>
            </a:r>
            <a:endParaRPr lang="en-US" sz="900" dirty="0"/>
          </a:p>
        </p:txBody>
      </p:sp>
      <p:sp>
        <p:nvSpPr>
          <p:cNvPr id="32" name="Text 30"/>
          <p:cNvSpPr/>
          <p:nvPr/>
        </p:nvSpPr>
        <p:spPr>
          <a:xfrm>
            <a:off x="6336792" y="2862072"/>
            <a:ext cx="2423160" cy="274320"/>
          </a:xfrm>
          <a:prstGeom prst="rect">
            <a:avLst/>
          </a:prstGeom>
          <a:noFill/>
          <a:ln/>
        </p:spPr>
        <p:txBody>
          <a:bodyPr wrap="square" lIns="0" tIns="0" rIns="0" bIns="0" rtlCol="0" anchor="ctr"/>
          <a:lstStyle/>
          <a:p>
            <a:pPr algn="l" indent="0" marL="0">
              <a:buNone/>
            </a:pPr>
            <a:r>
              <a:rPr lang="en-US" sz="950" dirty="0">
                <a:solidFill>
                  <a:srgbClr val="DDEEFF"/>
                </a:solidFill>
                <a:latin typeface="Calibri" pitchFamily="34" charset="0"/>
                <a:ea typeface="Calibri" pitchFamily="34" charset="-122"/>
                <a:cs typeface="Calibri" pitchFamily="34" charset="-120"/>
              </a:rPr>
              <a:t>· Age ↔ Pregnancies</a:t>
            </a:r>
            <a:endParaRPr lang="en-US" sz="950" dirty="0"/>
          </a:p>
        </p:txBody>
      </p:sp>
      <p:sp>
        <p:nvSpPr>
          <p:cNvPr id="33" name="Text 31"/>
          <p:cNvSpPr/>
          <p:nvPr/>
        </p:nvSpPr>
        <p:spPr>
          <a:xfrm>
            <a:off x="6336792" y="3145536"/>
            <a:ext cx="2423160" cy="274320"/>
          </a:xfrm>
          <a:prstGeom prst="rect">
            <a:avLst/>
          </a:prstGeom>
          <a:noFill/>
          <a:ln/>
        </p:spPr>
        <p:txBody>
          <a:bodyPr wrap="square" lIns="0" tIns="0" rIns="0" bIns="0" rtlCol="0" anchor="ctr"/>
          <a:lstStyle/>
          <a:p>
            <a:pPr algn="l" indent="0" marL="0">
              <a:buNone/>
            </a:pPr>
            <a:r>
              <a:rPr lang="en-US" sz="950" dirty="0">
                <a:solidFill>
                  <a:srgbClr val="DDEEFF"/>
                </a:solidFill>
                <a:latin typeface="Calibri" pitchFamily="34" charset="0"/>
                <a:ea typeface="Calibri" pitchFamily="34" charset="-122"/>
                <a:cs typeface="Calibri" pitchFamily="34" charset="-120"/>
              </a:rPr>
              <a:t>· Pregnancies ↔ BMI</a:t>
            </a:r>
            <a:endParaRPr lang="en-US" sz="950" dirty="0"/>
          </a:p>
        </p:txBody>
      </p:sp>
      <p:sp>
        <p:nvSpPr>
          <p:cNvPr id="34" name="Text 32"/>
          <p:cNvSpPr/>
          <p:nvPr/>
        </p:nvSpPr>
        <p:spPr>
          <a:xfrm>
            <a:off x="6336792" y="3429000"/>
            <a:ext cx="2423160" cy="274320"/>
          </a:xfrm>
          <a:prstGeom prst="rect">
            <a:avLst/>
          </a:prstGeom>
          <a:noFill/>
          <a:ln/>
        </p:spPr>
        <p:txBody>
          <a:bodyPr wrap="square" lIns="0" tIns="0" rIns="0" bIns="0" rtlCol="0" anchor="ctr"/>
          <a:lstStyle/>
          <a:p>
            <a:pPr algn="l" indent="0" marL="0">
              <a:buNone/>
            </a:pPr>
            <a:r>
              <a:rPr lang="en-US" sz="950" dirty="0">
                <a:solidFill>
                  <a:srgbClr val="DDEEFF"/>
                </a:solidFill>
                <a:latin typeface="Calibri" pitchFamily="34" charset="0"/>
                <a:ea typeface="Calibri" pitchFamily="34" charset="-122"/>
                <a:cs typeface="Calibri" pitchFamily="34" charset="-120"/>
              </a:rPr>
              <a:t>· Pregnancies ↔ Glucose</a:t>
            </a:r>
            <a:endParaRPr lang="en-US" sz="950" dirty="0"/>
          </a:p>
        </p:txBody>
      </p:sp>
      <p:sp>
        <p:nvSpPr>
          <p:cNvPr id="35" name="Text 33"/>
          <p:cNvSpPr/>
          <p:nvPr/>
        </p:nvSpPr>
        <p:spPr>
          <a:xfrm>
            <a:off x="6336792" y="3712464"/>
            <a:ext cx="2423160" cy="274320"/>
          </a:xfrm>
          <a:prstGeom prst="rect">
            <a:avLst/>
          </a:prstGeom>
          <a:noFill/>
          <a:ln/>
        </p:spPr>
        <p:txBody>
          <a:bodyPr wrap="square" lIns="0" tIns="0" rIns="0" bIns="0" rtlCol="0" anchor="ctr"/>
          <a:lstStyle/>
          <a:p>
            <a:pPr algn="l" indent="0" marL="0">
              <a:buNone/>
            </a:pPr>
            <a:r>
              <a:rPr lang="en-US" sz="950" dirty="0">
                <a:solidFill>
                  <a:srgbClr val="DDEEFF"/>
                </a:solidFill>
                <a:latin typeface="Calibri" pitchFamily="34" charset="0"/>
                <a:ea typeface="Calibri" pitchFamily="34" charset="-122"/>
                <a:cs typeface="Calibri" pitchFamily="34" charset="-120"/>
              </a:rPr>
              <a:t>· DPF ↔ Glucose</a:t>
            </a:r>
            <a:endParaRPr lang="en-US" sz="950" dirty="0"/>
          </a:p>
        </p:txBody>
      </p:sp>
      <p:sp>
        <p:nvSpPr>
          <p:cNvPr id="36" name="Text 34"/>
          <p:cNvSpPr/>
          <p:nvPr/>
        </p:nvSpPr>
        <p:spPr>
          <a:xfrm>
            <a:off x="6336792" y="3995928"/>
            <a:ext cx="2423160" cy="274320"/>
          </a:xfrm>
          <a:prstGeom prst="rect">
            <a:avLst/>
          </a:prstGeom>
          <a:noFill/>
          <a:ln/>
        </p:spPr>
        <p:txBody>
          <a:bodyPr wrap="square" lIns="0" tIns="0" rIns="0" bIns="0" rtlCol="0" anchor="ctr"/>
          <a:lstStyle/>
          <a:p>
            <a:pPr algn="l" indent="0" marL="0">
              <a:buNone/>
            </a:pPr>
            <a:r>
              <a:rPr lang="en-US" sz="950" dirty="0">
                <a:solidFill>
                  <a:srgbClr val="DDEEFF"/>
                </a:solidFill>
                <a:latin typeface="Calibri" pitchFamily="34" charset="0"/>
                <a:ea typeface="Calibri" pitchFamily="34" charset="-122"/>
                <a:cs typeface="Calibri" pitchFamily="34" charset="-120"/>
              </a:rPr>
              <a:t>· DPF ↔ BMI</a:t>
            </a:r>
            <a:endParaRPr lang="en-US" sz="950" dirty="0"/>
          </a:p>
        </p:txBody>
      </p:sp>
      <p:sp>
        <p:nvSpPr>
          <p:cNvPr id="37" name="Shape 35"/>
          <p:cNvSpPr/>
          <p:nvPr/>
        </p:nvSpPr>
        <p:spPr>
          <a:xfrm>
            <a:off x="6309360" y="4480560"/>
            <a:ext cx="2468880" cy="274320"/>
          </a:xfrm>
          <a:prstGeom prst="roundRect">
            <a:avLst>
              <a:gd name="adj" fmla="val 16667"/>
            </a:avLst>
          </a:prstGeom>
          <a:solidFill>
            <a:srgbClr val="9B72CF">
              <a:alpha val="35000"/>
            </a:srgbClr>
          </a:solidFill>
          <a:ln w="12700">
            <a:solidFill>
              <a:srgbClr val="9B72CF">
                <a:alpha val="50000"/>
              </a:srgbClr>
            </a:solidFill>
            <a:prstDash val="solid"/>
          </a:ln>
        </p:spPr>
      </p:sp>
      <p:sp>
        <p:nvSpPr>
          <p:cNvPr id="38" name="Text 36"/>
          <p:cNvSpPr/>
          <p:nvPr/>
        </p:nvSpPr>
        <p:spPr>
          <a:xfrm>
            <a:off x="6336792" y="4462272"/>
            <a:ext cx="2423160" cy="320040"/>
          </a:xfrm>
          <a:prstGeom prst="rect">
            <a:avLst/>
          </a:prstGeom>
          <a:noFill/>
          <a:ln/>
        </p:spPr>
        <p:txBody>
          <a:bodyPr wrap="square" lIns="0" tIns="0" rIns="0" bIns="0" rtlCol="0" anchor="ctr"/>
          <a:lstStyle/>
          <a:p>
            <a:pPr algn="l" indent="0" marL="0">
              <a:buNone/>
            </a:pPr>
            <a:r>
              <a:rPr lang="en-US" sz="750" i="1" dirty="0">
                <a:solidFill>
                  <a:srgbClr val="CCE8FF"/>
                </a:solidFill>
                <a:latin typeface="Calibri" pitchFamily="34" charset="0"/>
                <a:ea typeface="Calibri" pitchFamily="34" charset="-122"/>
                <a:cs typeface="Calibri" pitchFamily="34" charset="-120"/>
              </a:rPr>
              <a:t>Tied ranks present in Pregnancies — asymptotic p-values used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2545"/>
          </a:solidFill>
          <a:ln w="12700">
            <a:solidFill>
              <a:srgbClr val="0B2545"/>
            </a:solidFill>
            <a:prstDash val="solid"/>
          </a:ln>
        </p:spPr>
      </p:sp>
      <p:sp>
        <p:nvSpPr>
          <p:cNvPr id="3" name="Text 1"/>
          <p:cNvSpPr/>
          <p:nvPr/>
        </p:nvSpPr>
        <p:spPr>
          <a:xfrm>
            <a:off x="457200" y="0"/>
            <a:ext cx="8229600" cy="777240"/>
          </a:xfrm>
          <a:prstGeom prst="rect">
            <a:avLst/>
          </a:prstGeom>
          <a:noFill/>
          <a:ln/>
        </p:spPr>
        <p:txBody>
          <a:bodyPr wrap="square" rtlCol="0" anchor="ctr"/>
          <a:lstStyle/>
          <a:p>
            <a:pPr algn="l" indent="0" marL="0">
              <a:buNone/>
            </a:pPr>
            <a:r>
              <a:rPr lang="en-US" sz="1300" b="1" spc="200" kern="0" dirty="0">
                <a:solidFill>
                  <a:srgbClr val="FFFFFF"/>
                </a:solidFill>
                <a:latin typeface="Calibri" pitchFamily="34" charset="0"/>
                <a:ea typeface="Calibri" pitchFamily="34" charset="-122"/>
                <a:cs typeface="Calibri" pitchFamily="34" charset="-120"/>
              </a:rPr>
              <a:t>PEARSON ASSUMPTION CHECKS — SCATTERPLOTS</a:t>
            </a:r>
            <a:endParaRPr lang="en-US" sz="1300" dirty="0"/>
          </a:p>
        </p:txBody>
      </p:sp>
      <p:sp>
        <p:nvSpPr>
          <p:cNvPr id="4" name="Shape 2"/>
          <p:cNvSpPr/>
          <p:nvPr/>
        </p:nvSpPr>
        <p:spPr>
          <a:xfrm>
            <a:off x="384048" y="914400"/>
            <a:ext cx="4160520" cy="3977640"/>
          </a:xfrm>
          <a:prstGeom prst="roundRect">
            <a:avLst>
              <a:gd name="adj" fmla="val 2299"/>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5" name="Text 3"/>
          <p:cNvSpPr/>
          <p:nvPr/>
        </p:nvSpPr>
        <p:spPr>
          <a:xfrm>
            <a:off x="521208" y="987552"/>
            <a:ext cx="3886200" cy="347472"/>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Glucose vs BMI</a:t>
            </a:r>
            <a:endParaRPr lang="en-US" sz="1200" dirty="0"/>
          </a:p>
        </p:txBody>
      </p:sp>
      <p:pic>
        <p:nvPicPr>
          <p:cNvPr id="6" name="Image 0" descr="/home/claude/Scatterplot_of_Glucose_vs_BMI.jpeg">    </p:cNvPr>
          <p:cNvPicPr>
            <a:picLocks noChangeAspect="1"/>
          </p:cNvPicPr>
          <p:nvPr/>
        </p:nvPicPr>
        <p:blipFill>
          <a:blip r:embed="rId1"/>
          <a:stretch>
            <a:fillRect/>
          </a:stretch>
        </p:blipFill>
        <p:spPr>
          <a:xfrm>
            <a:off x="493776" y="1371600"/>
            <a:ext cx="3931920" cy="2560320"/>
          </a:xfrm>
          <a:prstGeom prst="rect">
            <a:avLst/>
          </a:prstGeom>
        </p:spPr>
      </p:pic>
      <p:sp>
        <p:nvSpPr>
          <p:cNvPr id="7" name="Shape 4"/>
          <p:cNvSpPr/>
          <p:nvPr/>
        </p:nvSpPr>
        <p:spPr>
          <a:xfrm>
            <a:off x="521208" y="4005072"/>
            <a:ext cx="1371600" cy="347472"/>
          </a:xfrm>
          <a:prstGeom prst="roundRect">
            <a:avLst>
              <a:gd name="adj" fmla="val 15789"/>
            </a:avLst>
          </a:prstGeom>
          <a:solidFill>
            <a:srgbClr val="1B6CA8"/>
          </a:solidFill>
          <a:ln w="12700">
            <a:solidFill>
              <a:srgbClr val="1B6CA8"/>
            </a:solidFill>
            <a:prstDash val="solid"/>
          </a:ln>
        </p:spPr>
      </p:sp>
      <p:sp>
        <p:nvSpPr>
          <p:cNvPr id="8" name="Text 5"/>
          <p:cNvSpPr/>
          <p:nvPr/>
        </p:nvSpPr>
        <p:spPr>
          <a:xfrm>
            <a:off x="521208" y="4005072"/>
            <a:ext cx="1371600" cy="347472"/>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 = 0.223</a:t>
            </a:r>
            <a:endParaRPr lang="en-US" sz="1100" dirty="0"/>
          </a:p>
        </p:txBody>
      </p:sp>
      <p:sp>
        <p:nvSpPr>
          <p:cNvPr id="9" name="Text 6"/>
          <p:cNvSpPr/>
          <p:nvPr/>
        </p:nvSpPr>
        <p:spPr>
          <a:xfrm>
            <a:off x="1984248" y="4005072"/>
            <a:ext cx="2560320" cy="347472"/>
          </a:xfrm>
          <a:prstGeom prst="rect">
            <a:avLst/>
          </a:prstGeom>
          <a:noFill/>
          <a:ln/>
        </p:spPr>
        <p:txBody>
          <a:bodyPr wrap="square" rtlCol="0" anchor="ctr"/>
          <a:lstStyle/>
          <a:p>
            <a:pPr algn="l" indent="0" marL="0">
              <a:buNone/>
            </a:pPr>
            <a:r>
              <a:rPr lang="en-US" sz="900" dirty="0">
                <a:solidFill>
                  <a:srgbClr val="3A5068"/>
                </a:solidFill>
                <a:latin typeface="Calibri" pitchFamily="34" charset="0"/>
                <a:ea typeface="Calibri" pitchFamily="34" charset="-122"/>
                <a:cs typeface="Calibri" pitchFamily="34" charset="-120"/>
              </a:rPr>
              <a:t>Approximately linear · Pearson appropriate</a:t>
            </a:r>
            <a:endParaRPr lang="en-US" sz="900" dirty="0"/>
          </a:p>
        </p:txBody>
      </p:sp>
      <p:sp>
        <p:nvSpPr>
          <p:cNvPr id="10" name="Shape 7"/>
          <p:cNvSpPr/>
          <p:nvPr/>
        </p:nvSpPr>
        <p:spPr>
          <a:xfrm>
            <a:off x="4818888" y="914400"/>
            <a:ext cx="4160520" cy="3977640"/>
          </a:xfrm>
          <a:prstGeom prst="roundRect">
            <a:avLst>
              <a:gd name="adj" fmla="val 2299"/>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11" name="Text 8"/>
          <p:cNvSpPr/>
          <p:nvPr/>
        </p:nvSpPr>
        <p:spPr>
          <a:xfrm>
            <a:off x="4956048" y="987552"/>
            <a:ext cx="3886200" cy="347472"/>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Blood Pressure vs Age</a:t>
            </a:r>
            <a:endParaRPr lang="en-US" sz="1200" dirty="0"/>
          </a:p>
        </p:txBody>
      </p:sp>
      <p:pic>
        <p:nvPicPr>
          <p:cNvPr id="12" name="Image 1" descr="/home/claude/Scatterplot_of_Blood_Pressure_vs_Age.jpeg">    </p:cNvPr>
          <p:cNvPicPr>
            <a:picLocks noChangeAspect="1"/>
          </p:cNvPicPr>
          <p:nvPr/>
        </p:nvPicPr>
        <p:blipFill>
          <a:blip r:embed="rId2"/>
          <a:stretch>
            <a:fillRect/>
          </a:stretch>
        </p:blipFill>
        <p:spPr>
          <a:xfrm>
            <a:off x="4928616" y="1371600"/>
            <a:ext cx="3931920" cy="2560320"/>
          </a:xfrm>
          <a:prstGeom prst="rect">
            <a:avLst/>
          </a:prstGeom>
        </p:spPr>
      </p:pic>
      <p:sp>
        <p:nvSpPr>
          <p:cNvPr id="13" name="Shape 9"/>
          <p:cNvSpPr/>
          <p:nvPr/>
        </p:nvSpPr>
        <p:spPr>
          <a:xfrm>
            <a:off x="4956048" y="4005072"/>
            <a:ext cx="1371600" cy="347472"/>
          </a:xfrm>
          <a:prstGeom prst="roundRect">
            <a:avLst>
              <a:gd name="adj" fmla="val 15789"/>
            </a:avLst>
          </a:prstGeom>
          <a:solidFill>
            <a:srgbClr val="F4A261"/>
          </a:solidFill>
          <a:ln w="12700">
            <a:solidFill>
              <a:srgbClr val="F4A261"/>
            </a:solidFill>
            <a:prstDash val="solid"/>
          </a:ln>
        </p:spPr>
      </p:sp>
      <p:sp>
        <p:nvSpPr>
          <p:cNvPr id="14" name="Text 10"/>
          <p:cNvSpPr/>
          <p:nvPr/>
        </p:nvSpPr>
        <p:spPr>
          <a:xfrm>
            <a:off x="4956048" y="4005072"/>
            <a:ext cx="1371600" cy="347472"/>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 = 0.325</a:t>
            </a:r>
            <a:endParaRPr lang="en-US" sz="1100" dirty="0"/>
          </a:p>
        </p:txBody>
      </p:sp>
      <p:sp>
        <p:nvSpPr>
          <p:cNvPr id="15" name="Text 11"/>
          <p:cNvSpPr/>
          <p:nvPr/>
        </p:nvSpPr>
        <p:spPr>
          <a:xfrm>
            <a:off x="6419088" y="4005072"/>
            <a:ext cx="2560320" cy="347472"/>
          </a:xfrm>
          <a:prstGeom prst="rect">
            <a:avLst/>
          </a:prstGeom>
          <a:noFill/>
          <a:ln/>
        </p:spPr>
        <p:txBody>
          <a:bodyPr wrap="square" rtlCol="0" anchor="ctr"/>
          <a:lstStyle/>
          <a:p>
            <a:pPr algn="l" indent="0" marL="0">
              <a:buNone/>
            </a:pPr>
            <a:r>
              <a:rPr lang="en-US" sz="900" dirty="0">
                <a:solidFill>
                  <a:srgbClr val="3A5068"/>
                </a:solidFill>
                <a:latin typeface="Calibri" pitchFamily="34" charset="0"/>
                <a:ea typeface="Calibri" pitchFamily="34" charset="-122"/>
                <a:cs typeface="Calibri" pitchFamily="34" charset="-120"/>
              </a:rPr>
              <a:t>Linear trend present · Mild heteroscedasticity noted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2545"/>
          </a:solidFill>
          <a:ln w="12700">
            <a:solidFill>
              <a:srgbClr val="0B2545"/>
            </a:solidFill>
            <a:prstDash val="solid"/>
          </a:ln>
        </p:spPr>
      </p:sp>
      <p:sp>
        <p:nvSpPr>
          <p:cNvPr id="3" name="Text 1"/>
          <p:cNvSpPr/>
          <p:nvPr/>
        </p:nvSpPr>
        <p:spPr>
          <a:xfrm>
            <a:off x="457200" y="0"/>
            <a:ext cx="8229600" cy="777240"/>
          </a:xfrm>
          <a:prstGeom prst="rect">
            <a:avLst/>
          </a:prstGeom>
          <a:noFill/>
          <a:ln/>
        </p:spPr>
        <p:txBody>
          <a:bodyPr wrap="square" rtlCol="0" anchor="ctr"/>
          <a:lstStyle/>
          <a:p>
            <a:pPr algn="l" indent="0" marL="0">
              <a:buNone/>
            </a:pPr>
            <a:r>
              <a:rPr lang="en-US" sz="1300" b="1" spc="200" kern="0" dirty="0">
                <a:solidFill>
                  <a:srgbClr val="FFFFFF"/>
                </a:solidFill>
                <a:latin typeface="Calibri" pitchFamily="34" charset="0"/>
                <a:ea typeface="Calibri" pitchFamily="34" charset="-122"/>
                <a:cs typeface="Calibri" pitchFamily="34" charset="-120"/>
              </a:rPr>
              <a:t>CORRELATION RESULTS — ALL 11 PAIRS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47472" y="896112"/>
          <a:ext cx="4846320" cy="4114800"/>
        </p:xfrm>
        <a:graphic>
          <a:graphicData uri="http://schemas.openxmlformats.org/drawingml/2006/table">
            <a:tbl>
              <a:tblPr/>
              <a:tblGrid>
                <a:gridCol w="1828800"/>
                <a:gridCol w="1188720"/>
                <a:gridCol w="685800"/>
                <a:gridCol w="1143000"/>
              </a:tblGrid>
              <a:tr h="342900">
                <a:tc>
                  <a:txBody>
                    <a:bodyPr/>
                    <a:lstStyle/>
                    <a:p>
                      <a:pPr algn="l" indent="0" marL="0">
                        <a:buNone/>
                      </a:pPr>
                      <a:r>
                        <a:rPr lang="en-US" sz="900" b="1" dirty="0">
                          <a:solidFill>
                            <a:srgbClr val="FFFFFF"/>
                          </a:solidFill>
                        </a:rPr>
                        <a:t>Variable Pair</a:t>
                      </a:r>
                      <a:endParaRPr lang="en-US" sz="900" dirty="0"/>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0B2545"/>
                    </a:solidFill>
                  </a:tcPr>
                </a:tc>
                <a:tc>
                  <a:txBody>
                    <a:bodyPr/>
                    <a:lstStyle/>
                    <a:p>
                      <a:pPr algn="l" indent="0" marL="0">
                        <a:buNone/>
                      </a:pPr>
                      <a:r>
                        <a:rPr lang="en-US" sz="900" b="1" dirty="0">
                          <a:solidFill>
                            <a:srgbClr val="FFFFFF"/>
                          </a:solidFill>
                        </a:rPr>
                        <a:t>Method</a:t>
                      </a:r>
                      <a:endParaRPr lang="en-US" sz="900" dirty="0"/>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0B2545"/>
                    </a:solidFill>
                  </a:tcPr>
                </a:tc>
                <a:tc>
                  <a:txBody>
                    <a:bodyPr/>
                    <a:lstStyle/>
                    <a:p>
                      <a:pPr algn="l" indent="0" marL="0">
                        <a:buNone/>
                      </a:pPr>
                      <a:r>
                        <a:rPr lang="en-US" sz="900" b="1" dirty="0">
                          <a:solidFill>
                            <a:srgbClr val="FFFFFF"/>
                          </a:solidFill>
                        </a:rPr>
                        <a:t>r / ρ</a:t>
                      </a:r>
                      <a:endParaRPr lang="en-US" sz="900" dirty="0"/>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0B2545"/>
                    </a:solidFill>
                  </a:tcPr>
                </a:tc>
                <a:tc>
                  <a:txBody>
                    <a:bodyPr/>
                    <a:lstStyle/>
                    <a:p>
                      <a:pPr algn="l" indent="0" marL="0">
                        <a:buNone/>
                      </a:pPr>
                      <a:r>
                        <a:rPr lang="en-US" sz="900" b="1" dirty="0">
                          <a:solidFill>
                            <a:srgbClr val="FFFFFF"/>
                          </a:solidFill>
                        </a:rPr>
                        <a:t>p-value</a:t>
                      </a:r>
                      <a:endParaRPr lang="en-US" sz="900" dirty="0"/>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0B2545"/>
                    </a:solidFill>
                  </a:tcPr>
                </a:tc>
              </a:tr>
              <a:tr h="342900">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Outcome vs Glucose</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Point-Biserial</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0.488</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&lt; 0.001</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r>
              <a:tr h="342900">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Outcome vs BMI</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Point-Biserial</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0.299</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&lt; 0.001</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r>
              <a:tr h="342900">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Outcome vs Age</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Point-Biserial</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0.246</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&lt; 0.001</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r>
              <a:tr h="342900">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Outcome vs Blood Pressure</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Point-Biserial</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0.167</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&lt; 0.001</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r>
              <a:tr h="342900">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Glucose vs BMI</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Pearson</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0.223</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&lt; 0.001</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r>
              <a:tr h="342900">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Age vs Blood Pressure</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Pearson</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0.325</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&lt; 0.001</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r>
              <a:tr h="342900">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Age vs Pregnancies</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Spearman</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0.617</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&lt; 0.001</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r>
              <a:tr h="342900">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Pregnancies vs BMI</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3F3"/>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Spearman</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3F3"/>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−0.002</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3F3"/>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0.967</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3F3"/>
                    </a:solidFill>
                  </a:tcPr>
                </a:tc>
              </a:tr>
              <a:tr h="342900">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Pregnancies vs Glucose</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Spearman</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0.138</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&lt; 0.001</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r>
              <a:tr h="342900">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DPF vs Glucose</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Spearman</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0.086</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0.021 ⚠</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0F7FF"/>
                    </a:solidFill>
                  </a:tcPr>
                </a:tc>
              </a:tr>
              <a:tr h="342900">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DPF vs BMI</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Spearman</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0.129</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algn="l" indent="0" marL="0">
                        <a:buNone/>
                      </a:pPr>
                      <a:r>
                        <a:rPr lang="en-US" sz="850" dirty="0">
                          <a:solidFill>
                            <a:srgbClr val="0B2545"/>
                          </a:solidFill>
                          <a:latin typeface="Calibri" pitchFamily="34" charset="0"/>
                          <a:ea typeface="Calibri" pitchFamily="34" charset="-122"/>
                          <a:cs typeface="Calibri" pitchFamily="34" charset="-120"/>
                        </a:rPr>
                        <a:t>&lt; 0.001</a:t>
                      </a:r>
                      <a:endParaRPr lang="en-US" sz="850" dirty="0">
                        <a:latin typeface="Calibri" charset="0"/>
                        <a:ea typeface="Calibri" charset="0"/>
                        <a:cs typeface="Calibri" charset="0"/>
                      </a:endParaRPr>
                    </a:p>
                  </a:txBody>
                  <a:tcPr marL="91440" marR="91440" marT="45720" marB="45720">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5349240" y="896112"/>
          <a:ext cx="3474720" cy="32004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5349240" y="4160520"/>
            <a:ext cx="3474720" cy="411480"/>
          </a:xfrm>
          <a:prstGeom prst="rect">
            <a:avLst/>
          </a:prstGeom>
          <a:noFill/>
          <a:ln/>
        </p:spPr>
        <p:txBody>
          <a:bodyPr wrap="square" rtlCol="0" anchor="ctr"/>
          <a:lstStyle/>
          <a:p>
            <a:pPr algn="l" indent="0" marL="0">
              <a:buNone/>
            </a:pPr>
            <a:r>
              <a:rPr lang="en-US" sz="800" i="1" dirty="0">
                <a:solidFill>
                  <a:srgbClr val="C0392B"/>
                </a:solidFill>
                <a:latin typeface="Calibri" pitchFamily="34" charset="0"/>
                <a:ea typeface="Calibri" pitchFamily="34" charset="-122"/>
                <a:cs typeface="Calibri" pitchFamily="34" charset="-120"/>
              </a:rPr>
              <a:t>⚠ DPF vs Glucose (p=0.021) is the weakest significant finding — interpret cautiously given no multiple-comparison correction was applied.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2545"/>
          </a:solidFill>
          <a:ln w="12700">
            <a:solidFill>
              <a:srgbClr val="0B2545"/>
            </a:solidFill>
            <a:prstDash val="solid"/>
          </a:ln>
        </p:spPr>
      </p:sp>
      <p:sp>
        <p:nvSpPr>
          <p:cNvPr id="3" name="Text 1"/>
          <p:cNvSpPr/>
          <p:nvPr/>
        </p:nvSpPr>
        <p:spPr>
          <a:xfrm>
            <a:off x="457200" y="0"/>
            <a:ext cx="8229600" cy="777240"/>
          </a:xfrm>
          <a:prstGeom prst="rect">
            <a:avLst/>
          </a:prstGeom>
          <a:noFill/>
          <a:ln/>
        </p:spPr>
        <p:txBody>
          <a:bodyPr wrap="square" rtlCol="0" anchor="ctr"/>
          <a:lstStyle/>
          <a:p>
            <a:pPr algn="l" indent="0" marL="0">
              <a:buNone/>
            </a:pPr>
            <a:r>
              <a:rPr lang="en-US" sz="1300" b="1" spc="200" kern="0" dirty="0">
                <a:solidFill>
                  <a:srgbClr val="FFFFFF"/>
                </a:solidFill>
                <a:latin typeface="Calibri" pitchFamily="34" charset="0"/>
                <a:ea typeface="Calibri" pitchFamily="34" charset="-122"/>
                <a:cs typeface="Calibri" pitchFamily="34" charset="-120"/>
              </a:rPr>
              <a:t>CORRELATION MATRIX — OVERALL PATTERN</a:t>
            </a:r>
            <a:endParaRPr lang="en-US" sz="1300" dirty="0"/>
          </a:p>
        </p:txBody>
      </p:sp>
      <p:sp>
        <p:nvSpPr>
          <p:cNvPr id="4" name="Shape 2"/>
          <p:cNvSpPr/>
          <p:nvPr/>
        </p:nvSpPr>
        <p:spPr>
          <a:xfrm>
            <a:off x="347472" y="896112"/>
            <a:ext cx="5029200" cy="4069080"/>
          </a:xfrm>
          <a:prstGeom prst="roundRect">
            <a:avLst>
              <a:gd name="adj" fmla="val 2247"/>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pic>
        <p:nvPicPr>
          <p:cNvPr id="5" name="Image 0" descr="/home/claude/Correlation_matrix_heatmap.jpeg">    </p:cNvPr>
          <p:cNvPicPr>
            <a:picLocks noChangeAspect="1"/>
          </p:cNvPicPr>
          <p:nvPr/>
        </p:nvPicPr>
        <p:blipFill>
          <a:blip r:embed="rId1"/>
          <a:stretch>
            <a:fillRect/>
          </a:stretch>
        </p:blipFill>
        <p:spPr>
          <a:xfrm>
            <a:off x="457200" y="960120"/>
            <a:ext cx="4800600" cy="3886200"/>
          </a:xfrm>
          <a:prstGeom prst="rect">
            <a:avLst/>
          </a:prstGeom>
        </p:spPr>
      </p:pic>
      <p:sp>
        <p:nvSpPr>
          <p:cNvPr id="6" name="Text 3"/>
          <p:cNvSpPr/>
          <p:nvPr/>
        </p:nvSpPr>
        <p:spPr>
          <a:xfrm>
            <a:off x="5577840" y="960120"/>
            <a:ext cx="3246120" cy="384048"/>
          </a:xfrm>
          <a:prstGeom prst="rect">
            <a:avLst/>
          </a:prstGeom>
          <a:noFill/>
          <a:ln/>
        </p:spPr>
        <p:txBody>
          <a:bodyPr wrap="square" rtlCol="0" anchor="ctr"/>
          <a:lstStyle/>
          <a:p>
            <a:pPr algn="l" indent="0" marL="0">
              <a:buNone/>
            </a:pPr>
            <a:r>
              <a:rPr lang="en-US" sz="1300" b="1" dirty="0">
                <a:solidFill>
                  <a:srgbClr val="1B6CA8"/>
                </a:solidFill>
                <a:latin typeface="Cambria" pitchFamily="34" charset="0"/>
                <a:ea typeface="Cambria" pitchFamily="34" charset="-122"/>
                <a:cs typeface="Cambria" pitchFamily="34" charset="-120"/>
              </a:rPr>
              <a:t>Key Observations</a:t>
            </a:r>
            <a:endParaRPr lang="en-US" sz="1300" dirty="0"/>
          </a:p>
        </p:txBody>
      </p:sp>
      <p:sp>
        <p:nvSpPr>
          <p:cNvPr id="7" name="Shape 4"/>
          <p:cNvSpPr/>
          <p:nvPr/>
        </p:nvSpPr>
        <p:spPr>
          <a:xfrm>
            <a:off x="5577840" y="1463040"/>
            <a:ext cx="201168" cy="201168"/>
          </a:xfrm>
          <a:prstGeom prst="ellipse">
            <a:avLst/>
          </a:prstGeom>
          <a:solidFill>
            <a:srgbClr val="1B6CA8"/>
          </a:solidFill>
          <a:ln w="12700">
            <a:solidFill>
              <a:srgbClr val="1B6CA8"/>
            </a:solidFill>
            <a:prstDash val="solid"/>
          </a:ln>
        </p:spPr>
      </p:sp>
      <p:sp>
        <p:nvSpPr>
          <p:cNvPr id="8" name="Text 5"/>
          <p:cNvSpPr/>
          <p:nvPr/>
        </p:nvSpPr>
        <p:spPr>
          <a:xfrm>
            <a:off x="5870448" y="1417320"/>
            <a:ext cx="2926080" cy="502920"/>
          </a:xfrm>
          <a:prstGeom prst="rect">
            <a:avLst/>
          </a:prstGeom>
          <a:noFill/>
          <a:ln/>
        </p:spPr>
        <p:txBody>
          <a:bodyPr wrap="square" rtlCol="0" anchor="t"/>
          <a:lstStyle/>
          <a:p>
            <a:pPr algn="l" indent="0" marL="0">
              <a:buNone/>
            </a:pPr>
            <a:r>
              <a:rPr lang="en-US" sz="950" dirty="0">
                <a:solidFill>
                  <a:srgbClr val="0B2545"/>
                </a:solidFill>
                <a:latin typeface="Calibri" pitchFamily="34" charset="0"/>
                <a:ea typeface="Calibri" pitchFamily="34" charset="-122"/>
                <a:cs typeface="Calibri" pitchFamily="34" charset="-120"/>
              </a:rPr>
              <a:t>Age ↔ Pregnancies: strongest inter-variable association (0.56 Pearson / 0.617 Spearman)</a:t>
            </a:r>
            <a:endParaRPr lang="en-US" sz="950" dirty="0"/>
          </a:p>
        </p:txBody>
      </p:sp>
      <p:sp>
        <p:nvSpPr>
          <p:cNvPr id="9" name="Shape 6"/>
          <p:cNvSpPr/>
          <p:nvPr/>
        </p:nvSpPr>
        <p:spPr>
          <a:xfrm>
            <a:off x="5577840" y="2121408"/>
            <a:ext cx="201168" cy="201168"/>
          </a:xfrm>
          <a:prstGeom prst="ellipse">
            <a:avLst/>
          </a:prstGeom>
          <a:solidFill>
            <a:srgbClr val="F4A261"/>
          </a:solidFill>
          <a:ln w="12700">
            <a:solidFill>
              <a:srgbClr val="F4A261"/>
            </a:solidFill>
            <a:prstDash val="solid"/>
          </a:ln>
        </p:spPr>
      </p:sp>
      <p:sp>
        <p:nvSpPr>
          <p:cNvPr id="10" name="Text 7"/>
          <p:cNvSpPr/>
          <p:nvPr/>
        </p:nvSpPr>
        <p:spPr>
          <a:xfrm>
            <a:off x="5870448" y="2075688"/>
            <a:ext cx="2926080" cy="502920"/>
          </a:xfrm>
          <a:prstGeom prst="rect">
            <a:avLst/>
          </a:prstGeom>
          <a:noFill/>
          <a:ln/>
        </p:spPr>
        <p:txBody>
          <a:bodyPr wrap="square" rtlCol="0" anchor="t"/>
          <a:lstStyle/>
          <a:p>
            <a:pPr algn="l" indent="0" marL="0">
              <a:buNone/>
            </a:pPr>
            <a:r>
              <a:rPr lang="en-US" sz="950" dirty="0">
                <a:solidFill>
                  <a:srgbClr val="0B2545"/>
                </a:solidFill>
                <a:latin typeface="Calibri" pitchFamily="34" charset="0"/>
                <a:ea typeface="Calibri" pitchFamily="34" charset="-122"/>
                <a:cs typeface="Calibri" pitchFamily="34" charset="-120"/>
              </a:rPr>
              <a:t>Age ↔ Blood Pressure: moderate positive relationship (0.32)</a:t>
            </a:r>
            <a:endParaRPr lang="en-US" sz="950" dirty="0"/>
          </a:p>
        </p:txBody>
      </p:sp>
      <p:sp>
        <p:nvSpPr>
          <p:cNvPr id="11" name="Shape 8"/>
          <p:cNvSpPr/>
          <p:nvPr/>
        </p:nvSpPr>
        <p:spPr>
          <a:xfrm>
            <a:off x="5577840" y="2779776"/>
            <a:ext cx="201168" cy="201168"/>
          </a:xfrm>
          <a:prstGeom prst="ellipse">
            <a:avLst/>
          </a:prstGeom>
          <a:solidFill>
            <a:srgbClr val="6A0572"/>
          </a:solidFill>
          <a:ln w="12700">
            <a:solidFill>
              <a:srgbClr val="6A0572"/>
            </a:solidFill>
            <a:prstDash val="solid"/>
          </a:ln>
        </p:spPr>
      </p:sp>
      <p:sp>
        <p:nvSpPr>
          <p:cNvPr id="12" name="Text 9"/>
          <p:cNvSpPr/>
          <p:nvPr/>
        </p:nvSpPr>
        <p:spPr>
          <a:xfrm>
            <a:off x="5870448" y="2734056"/>
            <a:ext cx="2926080" cy="502920"/>
          </a:xfrm>
          <a:prstGeom prst="rect">
            <a:avLst/>
          </a:prstGeom>
          <a:noFill/>
          <a:ln/>
        </p:spPr>
        <p:txBody>
          <a:bodyPr wrap="square" rtlCol="0" anchor="t"/>
          <a:lstStyle/>
          <a:p>
            <a:pPr algn="l" indent="0" marL="0">
              <a:buNone/>
            </a:pPr>
            <a:r>
              <a:rPr lang="en-US" sz="950" dirty="0">
                <a:solidFill>
                  <a:srgbClr val="0B2545"/>
                </a:solidFill>
                <a:latin typeface="Calibri" pitchFamily="34" charset="0"/>
                <a:ea typeface="Calibri" pitchFamily="34" charset="-122"/>
                <a:cs typeface="Calibri" pitchFamily="34" charset="-120"/>
              </a:rPr>
              <a:t>Glucose ↔ BMI: weak positive link through metabolic pathway (0.22)</a:t>
            </a:r>
            <a:endParaRPr lang="en-US" sz="950" dirty="0"/>
          </a:p>
        </p:txBody>
      </p:sp>
      <p:sp>
        <p:nvSpPr>
          <p:cNvPr id="13" name="Shape 10"/>
          <p:cNvSpPr/>
          <p:nvPr/>
        </p:nvSpPr>
        <p:spPr>
          <a:xfrm>
            <a:off x="5577840" y="3438144"/>
            <a:ext cx="201168" cy="201168"/>
          </a:xfrm>
          <a:prstGeom prst="ellipse">
            <a:avLst/>
          </a:prstGeom>
          <a:solidFill>
            <a:srgbClr val="E63946"/>
          </a:solidFill>
          <a:ln w="12700">
            <a:solidFill>
              <a:srgbClr val="E63946"/>
            </a:solidFill>
            <a:prstDash val="solid"/>
          </a:ln>
        </p:spPr>
      </p:sp>
      <p:sp>
        <p:nvSpPr>
          <p:cNvPr id="14" name="Text 11"/>
          <p:cNvSpPr/>
          <p:nvPr/>
        </p:nvSpPr>
        <p:spPr>
          <a:xfrm>
            <a:off x="5870448" y="3392424"/>
            <a:ext cx="2926080" cy="502920"/>
          </a:xfrm>
          <a:prstGeom prst="rect">
            <a:avLst/>
          </a:prstGeom>
          <a:noFill/>
          <a:ln/>
        </p:spPr>
        <p:txBody>
          <a:bodyPr wrap="square" rtlCol="0" anchor="t"/>
          <a:lstStyle/>
          <a:p>
            <a:pPr algn="l" indent="0" marL="0">
              <a:buNone/>
            </a:pPr>
            <a:r>
              <a:rPr lang="en-US" sz="950" dirty="0">
                <a:solidFill>
                  <a:srgbClr val="0B2545"/>
                </a:solidFill>
                <a:latin typeface="Calibri" pitchFamily="34" charset="0"/>
                <a:ea typeface="Calibri" pitchFamily="34" charset="-122"/>
                <a:cs typeface="Calibri" pitchFamily="34" charset="-120"/>
              </a:rPr>
              <a:t>Pregnancies ↔ BMI: effectively zero — null result confirmed (0.01)</a:t>
            </a:r>
            <a:endParaRPr lang="en-US" sz="950" dirty="0"/>
          </a:p>
        </p:txBody>
      </p:sp>
      <p:sp>
        <p:nvSpPr>
          <p:cNvPr id="15" name="Shape 12"/>
          <p:cNvSpPr/>
          <p:nvPr/>
        </p:nvSpPr>
        <p:spPr>
          <a:xfrm>
            <a:off x="5577840" y="4096512"/>
            <a:ext cx="201168" cy="201168"/>
          </a:xfrm>
          <a:prstGeom prst="ellipse">
            <a:avLst/>
          </a:prstGeom>
          <a:solidFill>
            <a:srgbClr val="3A5068"/>
          </a:solidFill>
          <a:ln w="12700">
            <a:solidFill>
              <a:srgbClr val="3A5068"/>
            </a:solidFill>
            <a:prstDash val="solid"/>
          </a:ln>
        </p:spPr>
      </p:sp>
      <p:sp>
        <p:nvSpPr>
          <p:cNvPr id="16" name="Text 13"/>
          <p:cNvSpPr/>
          <p:nvPr/>
        </p:nvSpPr>
        <p:spPr>
          <a:xfrm>
            <a:off x="5870448" y="4050792"/>
            <a:ext cx="2926080" cy="502920"/>
          </a:xfrm>
          <a:prstGeom prst="rect">
            <a:avLst/>
          </a:prstGeom>
          <a:noFill/>
          <a:ln/>
        </p:spPr>
        <p:txBody>
          <a:bodyPr wrap="square" rtlCol="0" anchor="t"/>
          <a:lstStyle/>
          <a:p>
            <a:pPr algn="l" indent="0" marL="0">
              <a:buNone/>
            </a:pPr>
            <a:r>
              <a:rPr lang="en-US" sz="950" dirty="0">
                <a:solidFill>
                  <a:srgbClr val="0B2545"/>
                </a:solidFill>
                <a:latin typeface="Calibri" pitchFamily="34" charset="0"/>
                <a:ea typeface="Calibri" pitchFamily="34" charset="-122"/>
                <a:cs typeface="Calibri" pitchFamily="34" charset="-120"/>
              </a:rPr>
              <a:t>DPF shows only weak associations with other variables</a:t>
            </a:r>
            <a:endParaRPr lang="en-US" sz="950" dirty="0"/>
          </a:p>
        </p:txBody>
      </p:sp>
      <p:sp>
        <p:nvSpPr>
          <p:cNvPr id="17" name="Text 14"/>
          <p:cNvSpPr/>
          <p:nvPr/>
        </p:nvSpPr>
        <p:spPr>
          <a:xfrm>
            <a:off x="347472" y="4754880"/>
            <a:ext cx="8412480" cy="274320"/>
          </a:xfrm>
          <a:prstGeom prst="rect">
            <a:avLst/>
          </a:prstGeom>
          <a:noFill/>
          <a:ln/>
        </p:spPr>
        <p:txBody>
          <a:bodyPr wrap="square" rtlCol="0" anchor="ctr"/>
          <a:lstStyle/>
          <a:p>
            <a:pPr algn="l" indent="0" marL="0">
              <a:buNone/>
            </a:pPr>
            <a:r>
              <a:rPr lang="en-US" sz="800" i="1" dirty="0">
                <a:solidFill>
                  <a:srgbClr val="6B8CAD"/>
                </a:solidFill>
                <a:latin typeface="Calibri" pitchFamily="34" charset="0"/>
                <a:ea typeface="Calibri" pitchFamily="34" charset="-122"/>
                <a:cs typeface="Calibri" pitchFamily="34" charset="-120"/>
              </a:rPr>
              <a:t>Note: heatmap uses Pearson coefficients for all pairs as a visual overview. Method-specific results in the table are the primary analysis.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2545"/>
          </a:solidFill>
          <a:ln w="12700">
            <a:solidFill>
              <a:srgbClr val="0B2545"/>
            </a:solidFill>
            <a:prstDash val="solid"/>
          </a:ln>
        </p:spPr>
      </p:sp>
      <p:sp>
        <p:nvSpPr>
          <p:cNvPr id="3" name="Text 1"/>
          <p:cNvSpPr/>
          <p:nvPr/>
        </p:nvSpPr>
        <p:spPr>
          <a:xfrm>
            <a:off x="457200" y="0"/>
            <a:ext cx="8229600" cy="777240"/>
          </a:xfrm>
          <a:prstGeom prst="rect">
            <a:avLst/>
          </a:prstGeom>
          <a:noFill/>
          <a:ln/>
        </p:spPr>
        <p:txBody>
          <a:bodyPr wrap="square" rtlCol="0" anchor="ctr"/>
          <a:lstStyle/>
          <a:p>
            <a:pPr algn="l" indent="0" marL="0">
              <a:buNone/>
            </a:pPr>
            <a:r>
              <a:rPr lang="en-US" sz="1300" b="1" spc="200" kern="0" dirty="0">
                <a:solidFill>
                  <a:srgbClr val="FFFFFF"/>
                </a:solidFill>
                <a:latin typeface="Calibri" pitchFamily="34" charset="0"/>
                <a:ea typeface="Calibri" pitchFamily="34" charset="-122"/>
                <a:cs typeface="Calibri" pitchFamily="34" charset="-120"/>
              </a:rPr>
              <a:t>SUPPLEMENTARY ANALYSIS — BLOOD PRESSURE &amp; DIABETES</a:t>
            </a:r>
            <a:endParaRPr lang="en-US" sz="1300" dirty="0"/>
          </a:p>
        </p:txBody>
      </p:sp>
      <p:sp>
        <p:nvSpPr>
          <p:cNvPr id="4" name="Shape 2"/>
          <p:cNvSpPr/>
          <p:nvPr/>
        </p:nvSpPr>
        <p:spPr>
          <a:xfrm>
            <a:off x="347472" y="896112"/>
            <a:ext cx="4663440" cy="4069080"/>
          </a:xfrm>
          <a:prstGeom prst="roundRect">
            <a:avLst>
              <a:gd name="adj" fmla="val 2247"/>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pic>
        <p:nvPicPr>
          <p:cNvPr id="5" name="Image 0" descr="/home/claude/Blood_Pressure_by_Diabetes_Status__Boxplot_.jpeg">    </p:cNvPr>
          <p:cNvPicPr>
            <a:picLocks noChangeAspect="1"/>
          </p:cNvPicPr>
          <p:nvPr/>
        </p:nvPicPr>
        <p:blipFill>
          <a:blip r:embed="rId1"/>
          <a:stretch>
            <a:fillRect/>
          </a:stretch>
        </p:blipFill>
        <p:spPr>
          <a:xfrm>
            <a:off x="438912" y="969264"/>
            <a:ext cx="4480560" cy="3886200"/>
          </a:xfrm>
          <a:prstGeom prst="rect">
            <a:avLst/>
          </a:prstGeom>
        </p:spPr>
      </p:pic>
      <p:sp>
        <p:nvSpPr>
          <p:cNvPr id="6" name="Text 3"/>
          <p:cNvSpPr/>
          <p:nvPr/>
        </p:nvSpPr>
        <p:spPr>
          <a:xfrm>
            <a:off x="5257800" y="960120"/>
            <a:ext cx="3566160" cy="365760"/>
          </a:xfrm>
          <a:prstGeom prst="rect">
            <a:avLst/>
          </a:prstGeom>
          <a:noFill/>
          <a:ln/>
        </p:spPr>
        <p:txBody>
          <a:bodyPr wrap="square" rtlCol="0" anchor="ctr"/>
          <a:lstStyle/>
          <a:p>
            <a:pPr algn="l" indent="0" marL="0">
              <a:buNone/>
            </a:pPr>
            <a:r>
              <a:rPr lang="en-US" sz="1300" b="1" dirty="0">
                <a:solidFill>
                  <a:srgbClr val="1B6CA8"/>
                </a:solidFill>
                <a:latin typeface="Cambria" pitchFamily="34" charset="0"/>
                <a:ea typeface="Cambria" pitchFamily="34" charset="-122"/>
                <a:cs typeface="Cambria" pitchFamily="34" charset="-120"/>
              </a:rPr>
              <a:t>Why This Matters</a:t>
            </a:r>
            <a:endParaRPr lang="en-US" sz="1300" dirty="0"/>
          </a:p>
        </p:txBody>
      </p:sp>
      <p:sp>
        <p:nvSpPr>
          <p:cNvPr id="7" name="Shape 4"/>
          <p:cNvSpPr/>
          <p:nvPr/>
        </p:nvSpPr>
        <p:spPr>
          <a:xfrm>
            <a:off x="5257800" y="1444752"/>
            <a:ext cx="3547872" cy="621792"/>
          </a:xfrm>
          <a:prstGeom prst="roundRect">
            <a:avLst>
              <a:gd name="adj" fmla="val 11765"/>
            </a:avLst>
          </a:prstGeom>
          <a:solidFill>
            <a:srgbClr val="FFFFFF"/>
          </a:solidFill>
          <a:ln w="12700">
            <a:solidFill>
              <a:srgbClr val="1B6CA8">
                <a:alpha val="50000"/>
              </a:srgbClr>
            </a:solidFill>
            <a:prstDash val="solid"/>
          </a:ln>
          <a:effectLst>
            <a:outerShdw sx="100000" sy="100000" kx="0" ky="0" algn="bl" rotWithShape="0" blurRad="101600" dist="38100" dir="2700000">
              <a:srgbClr val="000000">
                <a:alpha val="13000"/>
              </a:srgbClr>
            </a:outerShdw>
          </a:effectLst>
        </p:spPr>
      </p:sp>
      <p:sp>
        <p:nvSpPr>
          <p:cNvPr id="8" name="Text 5"/>
          <p:cNvSpPr/>
          <p:nvPr/>
        </p:nvSpPr>
        <p:spPr>
          <a:xfrm>
            <a:off x="5349240" y="1481328"/>
            <a:ext cx="3337560" cy="310896"/>
          </a:xfrm>
          <a:prstGeom prst="rect">
            <a:avLst/>
          </a:prstGeom>
          <a:noFill/>
          <a:ln/>
        </p:spPr>
        <p:txBody>
          <a:bodyPr wrap="square" lIns="0" tIns="0" rIns="0" bIns="0" rtlCol="0" anchor="ctr"/>
          <a:lstStyle/>
          <a:p>
            <a:pPr algn="l" indent="0" marL="0">
              <a:buNone/>
            </a:pPr>
            <a:r>
              <a:rPr lang="en-US" sz="1800" b="1" dirty="0">
                <a:solidFill>
                  <a:srgbClr val="1B6CA8"/>
                </a:solidFill>
                <a:latin typeface="Cambria" pitchFamily="34" charset="0"/>
                <a:ea typeface="Cambria" pitchFamily="34" charset="-122"/>
                <a:cs typeface="Cambria" pitchFamily="34" charset="-120"/>
              </a:rPr>
              <a:t>70.9 mmHg</a:t>
            </a:r>
            <a:endParaRPr lang="en-US" sz="1800" dirty="0"/>
          </a:p>
        </p:txBody>
      </p:sp>
      <p:sp>
        <p:nvSpPr>
          <p:cNvPr id="9" name="Text 6"/>
          <p:cNvSpPr/>
          <p:nvPr/>
        </p:nvSpPr>
        <p:spPr>
          <a:xfrm>
            <a:off x="5349240" y="1792224"/>
            <a:ext cx="3337560" cy="219456"/>
          </a:xfrm>
          <a:prstGeom prst="rect">
            <a:avLst/>
          </a:prstGeom>
          <a:noFill/>
          <a:ln/>
        </p:spPr>
        <p:txBody>
          <a:bodyPr wrap="square" lIns="0" tIns="0" rIns="0" bIns="0" rtlCol="0" anchor="ctr"/>
          <a:lstStyle/>
          <a:p>
            <a:pPr algn="l" indent="0" marL="0">
              <a:buNone/>
            </a:pPr>
            <a:r>
              <a:rPr lang="en-US" sz="900" dirty="0">
                <a:solidFill>
                  <a:srgbClr val="3A5068"/>
                </a:solidFill>
                <a:latin typeface="Calibri" pitchFamily="34" charset="0"/>
                <a:ea typeface="Calibri" pitchFamily="34" charset="-122"/>
                <a:cs typeface="Calibri" pitchFamily="34" charset="-120"/>
              </a:rPr>
              <a:t>Non-Diabetic Mean BP</a:t>
            </a:r>
            <a:endParaRPr lang="en-US" sz="900" dirty="0"/>
          </a:p>
        </p:txBody>
      </p:sp>
      <p:sp>
        <p:nvSpPr>
          <p:cNvPr id="10" name="Shape 7"/>
          <p:cNvSpPr/>
          <p:nvPr/>
        </p:nvSpPr>
        <p:spPr>
          <a:xfrm>
            <a:off x="5257800" y="2194560"/>
            <a:ext cx="3547872" cy="621792"/>
          </a:xfrm>
          <a:prstGeom prst="roundRect">
            <a:avLst>
              <a:gd name="adj" fmla="val 11765"/>
            </a:avLst>
          </a:prstGeom>
          <a:solidFill>
            <a:srgbClr val="FFFFFF"/>
          </a:solidFill>
          <a:ln w="12700">
            <a:solidFill>
              <a:srgbClr val="E63946">
                <a:alpha val="50000"/>
              </a:srgbClr>
            </a:solidFill>
            <a:prstDash val="solid"/>
          </a:ln>
          <a:effectLst>
            <a:outerShdw sx="100000" sy="100000" kx="0" ky="0" algn="bl" rotWithShape="0" blurRad="101600" dist="38100" dir="2700000">
              <a:srgbClr val="000000">
                <a:alpha val="13000"/>
              </a:srgbClr>
            </a:outerShdw>
          </a:effectLst>
        </p:spPr>
      </p:sp>
      <p:sp>
        <p:nvSpPr>
          <p:cNvPr id="11" name="Text 8"/>
          <p:cNvSpPr/>
          <p:nvPr/>
        </p:nvSpPr>
        <p:spPr>
          <a:xfrm>
            <a:off x="5349240" y="2231136"/>
            <a:ext cx="3337560" cy="310896"/>
          </a:xfrm>
          <a:prstGeom prst="rect">
            <a:avLst/>
          </a:prstGeom>
          <a:noFill/>
          <a:ln/>
        </p:spPr>
        <p:txBody>
          <a:bodyPr wrap="square" lIns="0" tIns="0" rIns="0" bIns="0" rtlCol="0" anchor="ctr"/>
          <a:lstStyle/>
          <a:p>
            <a:pPr algn="l" indent="0" marL="0">
              <a:buNone/>
            </a:pPr>
            <a:r>
              <a:rPr lang="en-US" sz="1800" b="1" dirty="0">
                <a:solidFill>
                  <a:srgbClr val="E63946"/>
                </a:solidFill>
                <a:latin typeface="Cambria" pitchFamily="34" charset="0"/>
                <a:ea typeface="Cambria" pitchFamily="34" charset="-122"/>
                <a:cs typeface="Cambria" pitchFamily="34" charset="-120"/>
              </a:rPr>
              <a:t>75.2 mmHg</a:t>
            </a:r>
            <a:endParaRPr lang="en-US" sz="1800" dirty="0"/>
          </a:p>
        </p:txBody>
      </p:sp>
      <p:sp>
        <p:nvSpPr>
          <p:cNvPr id="12" name="Text 9"/>
          <p:cNvSpPr/>
          <p:nvPr/>
        </p:nvSpPr>
        <p:spPr>
          <a:xfrm>
            <a:off x="5349240" y="2542032"/>
            <a:ext cx="3337560" cy="219456"/>
          </a:xfrm>
          <a:prstGeom prst="rect">
            <a:avLst/>
          </a:prstGeom>
          <a:noFill/>
          <a:ln/>
        </p:spPr>
        <p:txBody>
          <a:bodyPr wrap="square" lIns="0" tIns="0" rIns="0" bIns="0" rtlCol="0" anchor="ctr"/>
          <a:lstStyle/>
          <a:p>
            <a:pPr algn="l" indent="0" marL="0">
              <a:buNone/>
            </a:pPr>
            <a:r>
              <a:rPr lang="en-US" sz="900" dirty="0">
                <a:solidFill>
                  <a:srgbClr val="3A5068"/>
                </a:solidFill>
                <a:latin typeface="Calibri" pitchFamily="34" charset="0"/>
                <a:ea typeface="Calibri" pitchFamily="34" charset="-122"/>
                <a:cs typeface="Calibri" pitchFamily="34" charset="-120"/>
              </a:rPr>
              <a:t>Diabetic Mean BP</a:t>
            </a:r>
            <a:endParaRPr lang="en-US" sz="900" dirty="0"/>
          </a:p>
        </p:txBody>
      </p:sp>
      <p:sp>
        <p:nvSpPr>
          <p:cNvPr id="13" name="Shape 10"/>
          <p:cNvSpPr/>
          <p:nvPr/>
        </p:nvSpPr>
        <p:spPr>
          <a:xfrm>
            <a:off x="5257800" y="2944368"/>
            <a:ext cx="3547872" cy="621792"/>
          </a:xfrm>
          <a:prstGeom prst="roundRect">
            <a:avLst>
              <a:gd name="adj" fmla="val 11765"/>
            </a:avLst>
          </a:prstGeom>
          <a:solidFill>
            <a:srgbClr val="FFFFFF"/>
          </a:solidFill>
          <a:ln w="12700">
            <a:solidFill>
              <a:srgbClr val="6A0572">
                <a:alpha val="50000"/>
              </a:srgbClr>
            </a:solidFill>
            <a:prstDash val="solid"/>
          </a:ln>
          <a:effectLst>
            <a:outerShdw sx="100000" sy="100000" kx="0" ky="0" algn="bl" rotWithShape="0" blurRad="101600" dist="38100" dir="2700000">
              <a:srgbClr val="000000">
                <a:alpha val="13000"/>
              </a:srgbClr>
            </a:outerShdw>
          </a:effectLst>
        </p:spPr>
      </p:sp>
      <p:sp>
        <p:nvSpPr>
          <p:cNvPr id="14" name="Text 11"/>
          <p:cNvSpPr/>
          <p:nvPr/>
        </p:nvSpPr>
        <p:spPr>
          <a:xfrm>
            <a:off x="5349240" y="2980944"/>
            <a:ext cx="3337560" cy="310896"/>
          </a:xfrm>
          <a:prstGeom prst="rect">
            <a:avLst/>
          </a:prstGeom>
          <a:noFill/>
          <a:ln/>
        </p:spPr>
        <p:txBody>
          <a:bodyPr wrap="square" lIns="0" tIns="0" rIns="0" bIns="0" rtlCol="0" anchor="ctr"/>
          <a:lstStyle/>
          <a:p>
            <a:pPr algn="l" indent="0" marL="0">
              <a:buNone/>
            </a:pPr>
            <a:r>
              <a:rPr lang="en-US" sz="1800" b="1" dirty="0">
                <a:solidFill>
                  <a:srgbClr val="6A0572"/>
                </a:solidFill>
                <a:latin typeface="Cambria" pitchFamily="34" charset="0"/>
                <a:ea typeface="Cambria" pitchFamily="34" charset="-122"/>
                <a:cs typeface="Cambria" pitchFamily="34" charset="-120"/>
              </a:rPr>
              <a:t>4.3 mmHg</a:t>
            </a:r>
            <a:endParaRPr lang="en-US" sz="1800" dirty="0"/>
          </a:p>
        </p:txBody>
      </p:sp>
      <p:sp>
        <p:nvSpPr>
          <p:cNvPr id="15" name="Text 12"/>
          <p:cNvSpPr/>
          <p:nvPr/>
        </p:nvSpPr>
        <p:spPr>
          <a:xfrm>
            <a:off x="5349240" y="3291840"/>
            <a:ext cx="3337560" cy="219456"/>
          </a:xfrm>
          <a:prstGeom prst="rect">
            <a:avLst/>
          </a:prstGeom>
          <a:noFill/>
          <a:ln/>
        </p:spPr>
        <p:txBody>
          <a:bodyPr wrap="square" lIns="0" tIns="0" rIns="0" bIns="0" rtlCol="0" anchor="ctr"/>
          <a:lstStyle/>
          <a:p>
            <a:pPr algn="l" indent="0" marL="0">
              <a:buNone/>
            </a:pPr>
            <a:r>
              <a:rPr lang="en-US" sz="900" dirty="0">
                <a:solidFill>
                  <a:srgbClr val="3A5068"/>
                </a:solidFill>
                <a:latin typeface="Calibri" pitchFamily="34" charset="0"/>
                <a:ea typeface="Calibri" pitchFamily="34" charset="-122"/>
                <a:cs typeface="Calibri" pitchFamily="34" charset="-120"/>
              </a:rPr>
              <a:t>Difference</a:t>
            </a:r>
            <a:endParaRPr lang="en-US" sz="900" dirty="0"/>
          </a:p>
        </p:txBody>
      </p:sp>
      <p:sp>
        <p:nvSpPr>
          <p:cNvPr id="16" name="Shape 13"/>
          <p:cNvSpPr/>
          <p:nvPr/>
        </p:nvSpPr>
        <p:spPr>
          <a:xfrm>
            <a:off x="5257800" y="3694176"/>
            <a:ext cx="3547872" cy="621792"/>
          </a:xfrm>
          <a:prstGeom prst="roundRect">
            <a:avLst>
              <a:gd name="adj" fmla="val 11765"/>
            </a:avLst>
          </a:prstGeom>
          <a:solidFill>
            <a:srgbClr val="FFFFFF"/>
          </a:solidFill>
          <a:ln w="12700">
            <a:solidFill>
              <a:srgbClr val="2D6A4F">
                <a:alpha val="50000"/>
              </a:srgbClr>
            </a:solidFill>
            <a:prstDash val="solid"/>
          </a:ln>
          <a:effectLst>
            <a:outerShdw sx="100000" sy="100000" kx="0" ky="0" algn="bl" rotWithShape="0" blurRad="101600" dist="38100" dir="2700000">
              <a:srgbClr val="000000">
                <a:alpha val="13000"/>
              </a:srgbClr>
            </a:outerShdw>
          </a:effectLst>
        </p:spPr>
      </p:sp>
      <p:sp>
        <p:nvSpPr>
          <p:cNvPr id="17" name="Text 14"/>
          <p:cNvSpPr/>
          <p:nvPr/>
        </p:nvSpPr>
        <p:spPr>
          <a:xfrm>
            <a:off x="5349240" y="3730752"/>
            <a:ext cx="3337560" cy="310896"/>
          </a:xfrm>
          <a:prstGeom prst="rect">
            <a:avLst/>
          </a:prstGeom>
          <a:noFill/>
          <a:ln/>
        </p:spPr>
        <p:txBody>
          <a:bodyPr wrap="square" lIns="0" tIns="0" rIns="0" bIns="0" rtlCol="0" anchor="ctr"/>
          <a:lstStyle/>
          <a:p>
            <a:pPr algn="l" indent="0" marL="0">
              <a:buNone/>
            </a:pPr>
            <a:r>
              <a:rPr lang="en-US" sz="1800" b="1" dirty="0">
                <a:solidFill>
                  <a:srgbClr val="2D6A4F"/>
                </a:solidFill>
                <a:latin typeface="Cambria" pitchFamily="34" charset="0"/>
                <a:ea typeface="Cambria" pitchFamily="34" charset="-122"/>
                <a:cs typeface="Cambria" pitchFamily="34" charset="-120"/>
              </a:rPr>
              <a:t>p &lt; 0.001</a:t>
            </a:r>
            <a:endParaRPr lang="en-US" sz="1800" dirty="0"/>
          </a:p>
        </p:txBody>
      </p:sp>
      <p:sp>
        <p:nvSpPr>
          <p:cNvPr id="18" name="Text 15"/>
          <p:cNvSpPr/>
          <p:nvPr/>
        </p:nvSpPr>
        <p:spPr>
          <a:xfrm>
            <a:off x="5349240" y="4041648"/>
            <a:ext cx="3337560" cy="219456"/>
          </a:xfrm>
          <a:prstGeom prst="rect">
            <a:avLst/>
          </a:prstGeom>
          <a:noFill/>
          <a:ln/>
        </p:spPr>
        <p:txBody>
          <a:bodyPr wrap="square" lIns="0" tIns="0" rIns="0" bIns="0" rtlCol="0" anchor="ctr"/>
          <a:lstStyle/>
          <a:p>
            <a:pPr algn="l" indent="0" marL="0">
              <a:buNone/>
            </a:pPr>
            <a:r>
              <a:rPr lang="en-US" sz="900" dirty="0">
                <a:solidFill>
                  <a:srgbClr val="3A5068"/>
                </a:solidFill>
                <a:latin typeface="Calibri" pitchFamily="34" charset="0"/>
                <a:ea typeface="Calibri" pitchFamily="34" charset="-122"/>
                <a:cs typeface="Calibri" pitchFamily="34" charset="-120"/>
              </a:rPr>
              <a:t>Welch t-test</a:t>
            </a:r>
            <a:endParaRPr lang="en-US" sz="900" dirty="0"/>
          </a:p>
        </p:txBody>
      </p:sp>
      <p:sp>
        <p:nvSpPr>
          <p:cNvPr id="19" name="Text 16"/>
          <p:cNvSpPr/>
          <p:nvPr/>
        </p:nvSpPr>
        <p:spPr>
          <a:xfrm>
            <a:off x="5257800" y="4498848"/>
            <a:ext cx="3547872" cy="384048"/>
          </a:xfrm>
          <a:prstGeom prst="rect">
            <a:avLst/>
          </a:prstGeom>
          <a:noFill/>
          <a:ln/>
        </p:spPr>
        <p:txBody>
          <a:bodyPr wrap="square" rtlCol="0" anchor="ctr"/>
          <a:lstStyle/>
          <a:p>
            <a:pPr algn="l" indent="0" marL="0">
              <a:buNone/>
            </a:pPr>
            <a:r>
              <a:rPr lang="en-US" sz="850" i="1" dirty="0">
                <a:solidFill>
                  <a:srgbClr val="C0392B"/>
                </a:solidFill>
                <a:latin typeface="Calibri" pitchFamily="34" charset="0"/>
                <a:ea typeface="Calibri" pitchFamily="34" charset="-122"/>
                <a:cs typeface="Calibri" pitchFamily="34" charset="-120"/>
              </a:rPr>
              <a:t>Key insight: correlation (r = 0.167) understates the group-level difference. Statistical significance ≠ clinical significance — 4.3 mmHg is a marginal clinical difference.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rtlCol="0" anchor="ctr"/>
          <a:lstStyle/>
          <a:p>
            <a:pPr algn="l" indent="0" marL="0">
              <a:buNone/>
            </a:pPr>
            <a:r>
              <a:rPr lang="en-US" sz="1300" b="1" spc="200" kern="0" dirty="0">
                <a:solidFill>
                  <a:srgbClr val="8FB8D4"/>
                </a:solidFill>
                <a:latin typeface="Calibri" pitchFamily="34" charset="0"/>
                <a:ea typeface="Calibri" pitchFamily="34" charset="-122"/>
                <a:cs typeface="Calibri" pitchFamily="34" charset="-120"/>
              </a:rPr>
              <a:t>KEY FINDINGS</a:t>
            </a:r>
            <a:endParaRPr lang="en-US" sz="1300" dirty="0"/>
          </a:p>
        </p:txBody>
      </p:sp>
      <p:sp>
        <p:nvSpPr>
          <p:cNvPr id="3" name="Text 1"/>
          <p:cNvSpPr/>
          <p:nvPr/>
        </p:nvSpPr>
        <p:spPr>
          <a:xfrm>
            <a:off x="457200" y="713232"/>
            <a:ext cx="8229600" cy="365760"/>
          </a:xfrm>
          <a:prstGeom prst="rect">
            <a:avLst/>
          </a:prstGeom>
          <a:noFill/>
          <a:ln/>
        </p:spPr>
        <p:txBody>
          <a:bodyPr wrap="square" rtlCol="0" anchor="ctr"/>
          <a:lstStyle/>
          <a:p>
            <a:pPr algn="l" indent="0" marL="0">
              <a:buNone/>
            </a:pPr>
            <a:r>
              <a:rPr lang="en-US" sz="1500" dirty="0">
                <a:solidFill>
                  <a:srgbClr val="FFFFFF"/>
                </a:solidFill>
                <a:latin typeface="Cambria" pitchFamily="34" charset="0"/>
                <a:ea typeface="Cambria" pitchFamily="34" charset="-122"/>
                <a:cs typeface="Cambria" pitchFamily="34" charset="-120"/>
              </a:rPr>
              <a:t>What the correlations actually tell us</a:t>
            </a:r>
            <a:endParaRPr lang="en-US" sz="1500" dirty="0"/>
          </a:p>
        </p:txBody>
      </p:sp>
      <p:sp>
        <p:nvSpPr>
          <p:cNvPr id="4" name="Shape 2"/>
          <p:cNvSpPr/>
          <p:nvPr/>
        </p:nvSpPr>
        <p:spPr>
          <a:xfrm>
            <a:off x="347472" y="1234440"/>
            <a:ext cx="4160520" cy="1719072"/>
          </a:xfrm>
          <a:prstGeom prst="roundRect">
            <a:avLst>
              <a:gd name="adj" fmla="val 6383"/>
            </a:avLst>
          </a:prstGeom>
          <a:solidFill>
            <a:srgbClr val="FFFFFF">
              <a:alpha val="94000"/>
            </a:srgbClr>
          </a:solidFill>
          <a:ln w="12700">
            <a:solidFill>
              <a:srgbClr val="1B6CA8">
                <a:alpha val="50000"/>
              </a:srgbClr>
            </a:solidFill>
            <a:prstDash val="solid"/>
          </a:ln>
        </p:spPr>
      </p:sp>
      <p:sp>
        <p:nvSpPr>
          <p:cNvPr id="5" name="Shape 3"/>
          <p:cNvSpPr/>
          <p:nvPr/>
        </p:nvSpPr>
        <p:spPr>
          <a:xfrm>
            <a:off x="512064" y="1417320"/>
            <a:ext cx="438912" cy="438912"/>
          </a:xfrm>
          <a:prstGeom prst="ellipse">
            <a:avLst/>
          </a:prstGeom>
          <a:solidFill>
            <a:srgbClr val="1B6CA8"/>
          </a:solidFill>
          <a:ln w="12700">
            <a:solidFill>
              <a:srgbClr val="1B6CA8"/>
            </a:solidFill>
            <a:prstDash val="solid"/>
          </a:ln>
        </p:spPr>
      </p:sp>
      <p:sp>
        <p:nvSpPr>
          <p:cNvPr id="6" name="Text 4"/>
          <p:cNvSpPr/>
          <p:nvPr/>
        </p:nvSpPr>
        <p:spPr>
          <a:xfrm>
            <a:off x="512064" y="1417320"/>
            <a:ext cx="438912" cy="438912"/>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060704" y="1399032"/>
            <a:ext cx="3291840" cy="457200"/>
          </a:xfrm>
          <a:prstGeom prst="rect">
            <a:avLst/>
          </a:prstGeom>
          <a:noFill/>
          <a:ln/>
        </p:spPr>
        <p:txBody>
          <a:bodyPr wrap="square" lIns="0" tIns="0" rIns="0" bIns="0" rtlCol="0" anchor="ctr"/>
          <a:lstStyle/>
          <a:p>
            <a:pPr algn="l" indent="0" marL="0">
              <a:buNone/>
            </a:pPr>
            <a:r>
              <a:rPr lang="en-US" sz="1050" b="1" dirty="0">
                <a:solidFill>
                  <a:srgbClr val="1B6CA8"/>
                </a:solidFill>
                <a:latin typeface="Calibri" pitchFamily="34" charset="0"/>
                <a:ea typeface="Calibri" pitchFamily="34" charset="-122"/>
                <a:cs typeface="Calibri" pitchFamily="34" charset="-120"/>
              </a:rPr>
              <a:t>Glucose is the strongest clinical signal</a:t>
            </a:r>
            <a:endParaRPr lang="en-US" sz="1050" dirty="0"/>
          </a:p>
        </p:txBody>
      </p:sp>
      <p:sp>
        <p:nvSpPr>
          <p:cNvPr id="8" name="Text 6"/>
          <p:cNvSpPr/>
          <p:nvPr/>
        </p:nvSpPr>
        <p:spPr>
          <a:xfrm>
            <a:off x="512064" y="1984248"/>
            <a:ext cx="3840480" cy="868680"/>
          </a:xfrm>
          <a:prstGeom prst="rect">
            <a:avLst/>
          </a:prstGeom>
          <a:noFill/>
          <a:ln/>
        </p:spPr>
        <p:txBody>
          <a:bodyPr wrap="square" lIns="0" tIns="0" rIns="0" bIns="0" rtlCol="0" anchor="t"/>
          <a:lstStyle/>
          <a:p>
            <a:pPr algn="l" indent="0" marL="0">
              <a:buNone/>
            </a:pPr>
            <a:r>
              <a:rPr lang="en-US" sz="950" dirty="0">
                <a:solidFill>
                  <a:srgbClr val="3A5068"/>
                </a:solidFill>
                <a:latin typeface="Calibri" pitchFamily="34" charset="0"/>
                <a:ea typeface="Calibri" pitchFamily="34" charset="-122"/>
                <a:cs typeface="Calibri" pitchFamily="34" charset="-120"/>
              </a:rPr>
              <a:t>r = 0.488 with diabetes status — the highest correlation in the study. Reflects the biological centrality of glucose dysregulation in Type 2 diabetes.</a:t>
            </a:r>
            <a:endParaRPr lang="en-US" sz="950" dirty="0"/>
          </a:p>
        </p:txBody>
      </p:sp>
      <p:sp>
        <p:nvSpPr>
          <p:cNvPr id="9" name="Shape 7"/>
          <p:cNvSpPr/>
          <p:nvPr/>
        </p:nvSpPr>
        <p:spPr>
          <a:xfrm>
            <a:off x="4782312" y="1234440"/>
            <a:ext cx="4160520" cy="1719072"/>
          </a:xfrm>
          <a:prstGeom prst="roundRect">
            <a:avLst>
              <a:gd name="adj" fmla="val 6383"/>
            </a:avLst>
          </a:prstGeom>
          <a:solidFill>
            <a:srgbClr val="FFFFFF">
              <a:alpha val="94000"/>
            </a:srgbClr>
          </a:solidFill>
          <a:ln w="12700">
            <a:solidFill>
              <a:srgbClr val="F4A261">
                <a:alpha val="50000"/>
              </a:srgbClr>
            </a:solidFill>
            <a:prstDash val="solid"/>
          </a:ln>
        </p:spPr>
      </p:sp>
      <p:sp>
        <p:nvSpPr>
          <p:cNvPr id="10" name="Shape 8"/>
          <p:cNvSpPr/>
          <p:nvPr/>
        </p:nvSpPr>
        <p:spPr>
          <a:xfrm>
            <a:off x="4946904" y="1417320"/>
            <a:ext cx="438912" cy="438912"/>
          </a:xfrm>
          <a:prstGeom prst="ellipse">
            <a:avLst/>
          </a:prstGeom>
          <a:solidFill>
            <a:srgbClr val="F4A261"/>
          </a:solidFill>
          <a:ln w="12700">
            <a:solidFill>
              <a:srgbClr val="F4A261"/>
            </a:solidFill>
            <a:prstDash val="solid"/>
          </a:ln>
        </p:spPr>
      </p:sp>
      <p:sp>
        <p:nvSpPr>
          <p:cNvPr id="11" name="Text 9"/>
          <p:cNvSpPr/>
          <p:nvPr/>
        </p:nvSpPr>
        <p:spPr>
          <a:xfrm>
            <a:off x="4946904" y="1417320"/>
            <a:ext cx="438912" cy="438912"/>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5495544" y="1399032"/>
            <a:ext cx="3291840" cy="457200"/>
          </a:xfrm>
          <a:prstGeom prst="rect">
            <a:avLst/>
          </a:prstGeom>
          <a:noFill/>
          <a:ln/>
        </p:spPr>
        <p:txBody>
          <a:bodyPr wrap="square" lIns="0" tIns="0" rIns="0" bIns="0" rtlCol="0" anchor="ctr"/>
          <a:lstStyle/>
          <a:p>
            <a:pPr algn="l" indent="0" marL="0">
              <a:buNone/>
            </a:pPr>
            <a:r>
              <a:rPr lang="en-US" sz="1050" b="1" dirty="0">
                <a:solidFill>
                  <a:srgbClr val="F4A261"/>
                </a:solidFill>
                <a:latin typeface="Calibri" pitchFamily="34" charset="0"/>
                <a:ea typeface="Calibri" pitchFamily="34" charset="-122"/>
                <a:cs typeface="Calibri" pitchFamily="34" charset="-120"/>
              </a:rPr>
              <a:t>Demographic variables are internally related but weakly predictive</a:t>
            </a:r>
            <a:endParaRPr lang="en-US" sz="1050" dirty="0"/>
          </a:p>
        </p:txBody>
      </p:sp>
      <p:sp>
        <p:nvSpPr>
          <p:cNvPr id="13" name="Text 11"/>
          <p:cNvSpPr/>
          <p:nvPr/>
        </p:nvSpPr>
        <p:spPr>
          <a:xfrm>
            <a:off x="4946904" y="1984248"/>
            <a:ext cx="3840480" cy="868680"/>
          </a:xfrm>
          <a:prstGeom prst="rect">
            <a:avLst/>
          </a:prstGeom>
          <a:noFill/>
          <a:ln/>
        </p:spPr>
        <p:txBody>
          <a:bodyPr wrap="square" lIns="0" tIns="0" rIns="0" bIns="0" rtlCol="0" anchor="t"/>
          <a:lstStyle/>
          <a:p>
            <a:pPr algn="l" indent="0" marL="0">
              <a:buNone/>
            </a:pPr>
            <a:r>
              <a:rPr lang="en-US" sz="950" dirty="0">
                <a:solidFill>
                  <a:srgbClr val="3A5068"/>
                </a:solidFill>
                <a:latin typeface="Calibri" pitchFamily="34" charset="0"/>
                <a:ea typeface="Calibri" pitchFamily="34" charset="-122"/>
                <a:cs typeface="Calibri" pitchFamily="34" charset="-120"/>
              </a:rPr>
              <a:t>Age ↔ Pregnancies: ρ = 0.617. Yet both show weak associations with diabetes status — demographic variables capture shared structure, not diabetes risk.</a:t>
            </a:r>
            <a:endParaRPr lang="en-US" sz="950" dirty="0"/>
          </a:p>
        </p:txBody>
      </p:sp>
      <p:sp>
        <p:nvSpPr>
          <p:cNvPr id="14" name="Shape 12"/>
          <p:cNvSpPr/>
          <p:nvPr/>
        </p:nvSpPr>
        <p:spPr>
          <a:xfrm>
            <a:off x="347472" y="3108960"/>
            <a:ext cx="4160520" cy="1719072"/>
          </a:xfrm>
          <a:prstGeom prst="roundRect">
            <a:avLst>
              <a:gd name="adj" fmla="val 6383"/>
            </a:avLst>
          </a:prstGeom>
          <a:solidFill>
            <a:srgbClr val="FFFFFF">
              <a:alpha val="94000"/>
            </a:srgbClr>
          </a:solidFill>
          <a:ln w="12700">
            <a:solidFill>
              <a:srgbClr val="E63946">
                <a:alpha val="50000"/>
              </a:srgbClr>
            </a:solidFill>
            <a:prstDash val="solid"/>
          </a:ln>
        </p:spPr>
      </p:sp>
      <p:sp>
        <p:nvSpPr>
          <p:cNvPr id="15" name="Shape 13"/>
          <p:cNvSpPr/>
          <p:nvPr/>
        </p:nvSpPr>
        <p:spPr>
          <a:xfrm>
            <a:off x="512064" y="3291840"/>
            <a:ext cx="438912" cy="438912"/>
          </a:xfrm>
          <a:prstGeom prst="ellipse">
            <a:avLst/>
          </a:prstGeom>
          <a:solidFill>
            <a:srgbClr val="E63946"/>
          </a:solidFill>
          <a:ln w="12700">
            <a:solidFill>
              <a:srgbClr val="E63946"/>
            </a:solidFill>
            <a:prstDash val="solid"/>
          </a:ln>
        </p:spPr>
      </p:sp>
      <p:sp>
        <p:nvSpPr>
          <p:cNvPr id="16" name="Text 14"/>
          <p:cNvSpPr/>
          <p:nvPr/>
        </p:nvSpPr>
        <p:spPr>
          <a:xfrm>
            <a:off x="512064" y="3291840"/>
            <a:ext cx="438912" cy="438912"/>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060704" y="3273552"/>
            <a:ext cx="3291840" cy="457200"/>
          </a:xfrm>
          <a:prstGeom prst="rect">
            <a:avLst/>
          </a:prstGeom>
          <a:noFill/>
          <a:ln/>
        </p:spPr>
        <p:txBody>
          <a:bodyPr wrap="square" lIns="0" tIns="0" rIns="0" bIns="0" rtlCol="0" anchor="ctr"/>
          <a:lstStyle/>
          <a:p>
            <a:pPr algn="l" indent="0" marL="0">
              <a:buNone/>
            </a:pPr>
            <a:r>
              <a:rPr lang="en-US" sz="1050" b="1" dirty="0">
                <a:solidFill>
                  <a:srgbClr val="E63946"/>
                </a:solidFill>
                <a:latin typeface="Calibri" pitchFamily="34" charset="0"/>
                <a:ea typeface="Calibri" pitchFamily="34" charset="-122"/>
                <a:cs typeface="Calibri" pitchFamily="34" charset="-120"/>
              </a:rPr>
              <a:t>Pregnancies vs BMI: a null result worth reporting</a:t>
            </a:r>
            <a:endParaRPr lang="en-US" sz="1050" dirty="0"/>
          </a:p>
        </p:txBody>
      </p:sp>
      <p:sp>
        <p:nvSpPr>
          <p:cNvPr id="18" name="Text 16"/>
          <p:cNvSpPr/>
          <p:nvPr/>
        </p:nvSpPr>
        <p:spPr>
          <a:xfrm>
            <a:off x="512064" y="3858768"/>
            <a:ext cx="3840480" cy="868680"/>
          </a:xfrm>
          <a:prstGeom prst="rect">
            <a:avLst/>
          </a:prstGeom>
          <a:noFill/>
          <a:ln/>
        </p:spPr>
        <p:txBody>
          <a:bodyPr wrap="square" lIns="0" tIns="0" rIns="0" bIns="0" rtlCol="0" anchor="t"/>
          <a:lstStyle/>
          <a:p>
            <a:pPr algn="l" indent="0" marL="0">
              <a:buNone/>
            </a:pPr>
            <a:r>
              <a:rPr lang="en-US" sz="950" dirty="0">
                <a:solidFill>
                  <a:srgbClr val="3A5068"/>
                </a:solidFill>
                <a:latin typeface="Calibri" pitchFamily="34" charset="0"/>
                <a:ea typeface="Calibri" pitchFamily="34" charset="-122"/>
                <a:cs typeface="Calibri" pitchFamily="34" charset="-120"/>
              </a:rPr>
              <a:t>ρ = −0.002, p = 0.967. Despite theoretical expectations, parity and body composition were entirely unrelated in this dataset.</a:t>
            </a:r>
            <a:endParaRPr lang="en-US" sz="950" dirty="0"/>
          </a:p>
        </p:txBody>
      </p:sp>
      <p:sp>
        <p:nvSpPr>
          <p:cNvPr id="19" name="Shape 17"/>
          <p:cNvSpPr/>
          <p:nvPr/>
        </p:nvSpPr>
        <p:spPr>
          <a:xfrm>
            <a:off x="4782312" y="3108960"/>
            <a:ext cx="4160520" cy="1719072"/>
          </a:xfrm>
          <a:prstGeom prst="roundRect">
            <a:avLst>
              <a:gd name="adj" fmla="val 6383"/>
            </a:avLst>
          </a:prstGeom>
          <a:solidFill>
            <a:srgbClr val="FFFFFF">
              <a:alpha val="94000"/>
            </a:srgbClr>
          </a:solidFill>
          <a:ln w="12700">
            <a:solidFill>
              <a:srgbClr val="9B72CF">
                <a:alpha val="50000"/>
              </a:srgbClr>
            </a:solidFill>
            <a:prstDash val="solid"/>
          </a:ln>
        </p:spPr>
      </p:sp>
      <p:sp>
        <p:nvSpPr>
          <p:cNvPr id="20" name="Shape 18"/>
          <p:cNvSpPr/>
          <p:nvPr/>
        </p:nvSpPr>
        <p:spPr>
          <a:xfrm>
            <a:off x="4946904" y="3291840"/>
            <a:ext cx="438912" cy="438912"/>
          </a:xfrm>
          <a:prstGeom prst="ellipse">
            <a:avLst/>
          </a:prstGeom>
          <a:solidFill>
            <a:srgbClr val="9B72CF"/>
          </a:solidFill>
          <a:ln w="12700">
            <a:solidFill>
              <a:srgbClr val="9B72CF"/>
            </a:solidFill>
            <a:prstDash val="solid"/>
          </a:ln>
        </p:spPr>
      </p:sp>
      <p:sp>
        <p:nvSpPr>
          <p:cNvPr id="21" name="Text 19"/>
          <p:cNvSpPr/>
          <p:nvPr/>
        </p:nvSpPr>
        <p:spPr>
          <a:xfrm>
            <a:off x="4946904" y="3291840"/>
            <a:ext cx="438912" cy="438912"/>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5495544" y="3273552"/>
            <a:ext cx="3291840" cy="457200"/>
          </a:xfrm>
          <a:prstGeom prst="rect">
            <a:avLst/>
          </a:prstGeom>
          <a:noFill/>
          <a:ln/>
        </p:spPr>
        <p:txBody>
          <a:bodyPr wrap="square" lIns="0" tIns="0" rIns="0" bIns="0" rtlCol="0" anchor="ctr"/>
          <a:lstStyle/>
          <a:p>
            <a:pPr algn="l" indent="0" marL="0">
              <a:buNone/>
            </a:pPr>
            <a:r>
              <a:rPr lang="en-US" sz="1050" b="1" dirty="0">
                <a:solidFill>
                  <a:srgbClr val="9B72CF"/>
                </a:solidFill>
                <a:latin typeface="Calibri" pitchFamily="34" charset="0"/>
                <a:ea typeface="Calibri" pitchFamily="34" charset="-122"/>
                <a:cs typeface="Calibri" pitchFamily="34" charset="-120"/>
              </a:rPr>
              <a:t>DPF associations are real but fragile</a:t>
            </a:r>
            <a:endParaRPr lang="en-US" sz="1050" dirty="0"/>
          </a:p>
        </p:txBody>
      </p:sp>
      <p:sp>
        <p:nvSpPr>
          <p:cNvPr id="23" name="Text 21"/>
          <p:cNvSpPr/>
          <p:nvPr/>
        </p:nvSpPr>
        <p:spPr>
          <a:xfrm>
            <a:off x="4946904" y="3858768"/>
            <a:ext cx="3840480" cy="868680"/>
          </a:xfrm>
          <a:prstGeom prst="rect">
            <a:avLst/>
          </a:prstGeom>
          <a:noFill/>
          <a:ln/>
        </p:spPr>
        <p:txBody>
          <a:bodyPr wrap="square" lIns="0" tIns="0" rIns="0" bIns="0" rtlCol="0" anchor="t"/>
          <a:lstStyle/>
          <a:p>
            <a:pPr algn="l" indent="0" marL="0">
              <a:buNone/>
            </a:pPr>
            <a:r>
              <a:rPr lang="en-US" sz="950" dirty="0">
                <a:solidFill>
                  <a:srgbClr val="3A5068"/>
                </a:solidFill>
                <a:latin typeface="Calibri" pitchFamily="34" charset="0"/>
                <a:ea typeface="Calibri" pitchFamily="34" charset="-122"/>
                <a:cs typeface="Calibri" pitchFamily="34" charset="-120"/>
              </a:rPr>
              <a:t>Familial risk shows weak positive links with Glucose and BMI. DPF vs Glucose (p = 0.021) may not survive multiple-comparison correction.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2545"/>
          </a:solidFill>
          <a:ln w="12700">
            <a:solidFill>
              <a:srgbClr val="0B2545"/>
            </a:solidFill>
            <a:prstDash val="solid"/>
          </a:ln>
        </p:spPr>
      </p:sp>
      <p:sp>
        <p:nvSpPr>
          <p:cNvPr id="3" name="Text 1"/>
          <p:cNvSpPr/>
          <p:nvPr/>
        </p:nvSpPr>
        <p:spPr>
          <a:xfrm>
            <a:off x="457200" y="0"/>
            <a:ext cx="8229600" cy="777240"/>
          </a:xfrm>
          <a:prstGeom prst="rect">
            <a:avLst/>
          </a:prstGeom>
          <a:noFill/>
          <a:ln/>
        </p:spPr>
        <p:txBody>
          <a:bodyPr wrap="square" rtlCol="0" anchor="ctr"/>
          <a:lstStyle/>
          <a:p>
            <a:pPr algn="l" indent="0" marL="0">
              <a:buNone/>
            </a:pPr>
            <a:r>
              <a:rPr lang="en-US" sz="1300" b="1" spc="200" kern="0" dirty="0">
                <a:solidFill>
                  <a:srgbClr val="FFFFFF"/>
                </a:solidFill>
                <a:latin typeface="Calibri" pitchFamily="34" charset="0"/>
                <a:ea typeface="Calibri" pitchFamily="34" charset="-122"/>
                <a:cs typeface="Calibri" pitchFamily="34" charset="-120"/>
              </a:rPr>
              <a:t>LIMITATIONS</a:t>
            </a:r>
            <a:endParaRPr lang="en-US" sz="1300" dirty="0"/>
          </a:p>
        </p:txBody>
      </p:sp>
      <p:sp>
        <p:nvSpPr>
          <p:cNvPr id="4" name="Shape 2"/>
          <p:cNvSpPr/>
          <p:nvPr/>
        </p:nvSpPr>
        <p:spPr>
          <a:xfrm>
            <a:off x="347472" y="932688"/>
            <a:ext cx="4160520" cy="1261872"/>
          </a:xfrm>
          <a:prstGeom prst="roundRect">
            <a:avLst>
              <a:gd name="adj" fmla="val 7246"/>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347472" y="932688"/>
            <a:ext cx="594360" cy="1261872"/>
          </a:xfrm>
          <a:prstGeom prst="roundRect">
            <a:avLst>
              <a:gd name="adj" fmla="val 15385"/>
            </a:avLst>
          </a:prstGeom>
          <a:solidFill>
            <a:srgbClr val="1B6CA8">
              <a:alpha val="85000"/>
            </a:srgbClr>
          </a:solidFill>
          <a:ln w="12700">
            <a:solidFill>
              <a:srgbClr val="1B6CA8">
                <a:alpha val="85000"/>
              </a:srgbClr>
            </a:solidFill>
            <a:prstDash val="solid"/>
          </a:ln>
        </p:spPr>
      </p:sp>
      <p:sp>
        <p:nvSpPr>
          <p:cNvPr id="6" name="Text 4"/>
          <p:cNvSpPr/>
          <p:nvPr/>
        </p:nvSpPr>
        <p:spPr>
          <a:xfrm>
            <a:off x="347472" y="932688"/>
            <a:ext cx="594360" cy="12618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L1</a:t>
            </a:r>
            <a:endParaRPr lang="en-US" sz="1000" dirty="0"/>
          </a:p>
        </p:txBody>
      </p:sp>
      <p:sp>
        <p:nvSpPr>
          <p:cNvPr id="7" name="Text 5"/>
          <p:cNvSpPr/>
          <p:nvPr/>
        </p:nvSpPr>
        <p:spPr>
          <a:xfrm>
            <a:off x="1033272" y="1024128"/>
            <a:ext cx="3337560" cy="347472"/>
          </a:xfrm>
          <a:prstGeom prst="rect">
            <a:avLst/>
          </a:prstGeom>
          <a:noFill/>
          <a:ln/>
        </p:spPr>
        <p:txBody>
          <a:bodyPr wrap="square" lIns="0" tIns="0" rIns="0" bIns="0" rtlCol="0" anchor="ctr"/>
          <a:lstStyle/>
          <a:p>
            <a:pPr algn="l" indent="0" marL="0">
              <a:buNone/>
            </a:pPr>
            <a:r>
              <a:rPr lang="en-US" sz="1050" b="1" dirty="0">
                <a:solidFill>
                  <a:srgbClr val="0B2545"/>
                </a:solidFill>
                <a:latin typeface="Calibri" pitchFamily="34" charset="0"/>
                <a:ea typeface="Calibri" pitchFamily="34" charset="-122"/>
                <a:cs typeface="Calibri" pitchFamily="34" charset="-120"/>
              </a:rPr>
              <a:t>Cross-sectional data</a:t>
            </a:r>
            <a:endParaRPr lang="en-US" sz="1050" dirty="0"/>
          </a:p>
        </p:txBody>
      </p:sp>
      <p:sp>
        <p:nvSpPr>
          <p:cNvPr id="8" name="Text 6"/>
          <p:cNvSpPr/>
          <p:nvPr/>
        </p:nvSpPr>
        <p:spPr>
          <a:xfrm>
            <a:off x="1033272" y="1389888"/>
            <a:ext cx="3337560" cy="685800"/>
          </a:xfrm>
          <a:prstGeom prst="rect">
            <a:avLst/>
          </a:prstGeom>
          <a:noFill/>
          <a:ln/>
        </p:spPr>
        <p:txBody>
          <a:bodyPr wrap="square" lIns="0" tIns="0" rIns="0" bIns="0" rtlCol="0" anchor="t"/>
          <a:lstStyle/>
          <a:p>
            <a:pPr algn="l" indent="0" marL="0">
              <a:buNone/>
            </a:pPr>
            <a:r>
              <a:rPr lang="en-US" sz="900" dirty="0">
                <a:solidFill>
                  <a:srgbClr val="3A5068"/>
                </a:solidFill>
                <a:latin typeface="Calibri" pitchFamily="34" charset="0"/>
                <a:ea typeface="Calibri" pitchFamily="34" charset="-122"/>
                <a:cs typeface="Calibri" pitchFamily="34" charset="-120"/>
              </a:rPr>
              <a:t>Correlation does not imply causation. Directionality of relationships cannot be determined.</a:t>
            </a:r>
            <a:endParaRPr lang="en-US" sz="900" dirty="0"/>
          </a:p>
        </p:txBody>
      </p:sp>
      <p:sp>
        <p:nvSpPr>
          <p:cNvPr id="9" name="Shape 7"/>
          <p:cNvSpPr/>
          <p:nvPr/>
        </p:nvSpPr>
        <p:spPr>
          <a:xfrm>
            <a:off x="4782312" y="932688"/>
            <a:ext cx="4160520" cy="1261872"/>
          </a:xfrm>
          <a:prstGeom prst="roundRect">
            <a:avLst>
              <a:gd name="adj" fmla="val 7246"/>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10" name="Shape 8"/>
          <p:cNvSpPr/>
          <p:nvPr/>
        </p:nvSpPr>
        <p:spPr>
          <a:xfrm>
            <a:off x="4782312" y="932688"/>
            <a:ext cx="594360" cy="1261872"/>
          </a:xfrm>
          <a:prstGeom prst="roundRect">
            <a:avLst>
              <a:gd name="adj" fmla="val 15385"/>
            </a:avLst>
          </a:prstGeom>
          <a:solidFill>
            <a:srgbClr val="F4A261">
              <a:alpha val="85000"/>
            </a:srgbClr>
          </a:solidFill>
          <a:ln w="12700">
            <a:solidFill>
              <a:srgbClr val="F4A261">
                <a:alpha val="85000"/>
              </a:srgbClr>
            </a:solidFill>
            <a:prstDash val="solid"/>
          </a:ln>
        </p:spPr>
      </p:sp>
      <p:sp>
        <p:nvSpPr>
          <p:cNvPr id="11" name="Text 9"/>
          <p:cNvSpPr/>
          <p:nvPr/>
        </p:nvSpPr>
        <p:spPr>
          <a:xfrm>
            <a:off x="4782312" y="932688"/>
            <a:ext cx="594360" cy="12618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L2</a:t>
            </a:r>
            <a:endParaRPr lang="en-US" sz="1000" dirty="0"/>
          </a:p>
        </p:txBody>
      </p:sp>
      <p:sp>
        <p:nvSpPr>
          <p:cNvPr id="12" name="Text 10"/>
          <p:cNvSpPr/>
          <p:nvPr/>
        </p:nvSpPr>
        <p:spPr>
          <a:xfrm>
            <a:off x="5468112" y="1024128"/>
            <a:ext cx="3337560" cy="347472"/>
          </a:xfrm>
          <a:prstGeom prst="rect">
            <a:avLst/>
          </a:prstGeom>
          <a:noFill/>
          <a:ln/>
        </p:spPr>
        <p:txBody>
          <a:bodyPr wrap="square" lIns="0" tIns="0" rIns="0" bIns="0" rtlCol="0" anchor="ctr"/>
          <a:lstStyle/>
          <a:p>
            <a:pPr algn="l" indent="0" marL="0">
              <a:buNone/>
            </a:pPr>
            <a:r>
              <a:rPr lang="en-US" sz="1050" b="1" dirty="0">
                <a:solidFill>
                  <a:srgbClr val="0B2545"/>
                </a:solidFill>
                <a:latin typeface="Calibri" pitchFamily="34" charset="0"/>
                <a:ea typeface="Calibri" pitchFamily="34" charset="-122"/>
                <a:cs typeface="Calibri" pitchFamily="34" charset="-120"/>
              </a:rPr>
              <a:t>Missing data</a:t>
            </a:r>
            <a:endParaRPr lang="en-US" sz="1050" dirty="0"/>
          </a:p>
        </p:txBody>
      </p:sp>
      <p:sp>
        <p:nvSpPr>
          <p:cNvPr id="13" name="Text 11"/>
          <p:cNvSpPr/>
          <p:nvPr/>
        </p:nvSpPr>
        <p:spPr>
          <a:xfrm>
            <a:off x="5468112" y="1389888"/>
            <a:ext cx="3337560" cy="685800"/>
          </a:xfrm>
          <a:prstGeom prst="rect">
            <a:avLst/>
          </a:prstGeom>
          <a:noFill/>
          <a:ln/>
        </p:spPr>
        <p:txBody>
          <a:bodyPr wrap="square" lIns="0" tIns="0" rIns="0" bIns="0" rtlCol="0" anchor="t"/>
          <a:lstStyle/>
          <a:p>
            <a:pPr algn="l" indent="0" marL="0">
              <a:buNone/>
            </a:pPr>
            <a:r>
              <a:rPr lang="en-US" sz="900" dirty="0">
                <a:solidFill>
                  <a:srgbClr val="3A5068"/>
                </a:solidFill>
                <a:latin typeface="Calibri" pitchFamily="34" charset="0"/>
                <a:ea typeface="Calibri" pitchFamily="34" charset="-122"/>
                <a:cs typeface="Calibri" pitchFamily="34" charset="-120"/>
              </a:rPr>
              <a:t>Listwise deletion reduced n from 768 to 724. Missingness may not be random, potentially introducing bias.</a:t>
            </a:r>
            <a:endParaRPr lang="en-US" sz="900" dirty="0"/>
          </a:p>
        </p:txBody>
      </p:sp>
      <p:sp>
        <p:nvSpPr>
          <p:cNvPr id="14" name="Shape 12"/>
          <p:cNvSpPr/>
          <p:nvPr/>
        </p:nvSpPr>
        <p:spPr>
          <a:xfrm>
            <a:off x="347472" y="2322576"/>
            <a:ext cx="4160520" cy="1261872"/>
          </a:xfrm>
          <a:prstGeom prst="roundRect">
            <a:avLst>
              <a:gd name="adj" fmla="val 7246"/>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15" name="Shape 13"/>
          <p:cNvSpPr/>
          <p:nvPr/>
        </p:nvSpPr>
        <p:spPr>
          <a:xfrm>
            <a:off x="347472" y="2322576"/>
            <a:ext cx="594360" cy="1261872"/>
          </a:xfrm>
          <a:prstGeom prst="roundRect">
            <a:avLst>
              <a:gd name="adj" fmla="val 15385"/>
            </a:avLst>
          </a:prstGeom>
          <a:solidFill>
            <a:srgbClr val="6A0572">
              <a:alpha val="85000"/>
            </a:srgbClr>
          </a:solidFill>
          <a:ln w="12700">
            <a:solidFill>
              <a:srgbClr val="6A0572">
                <a:alpha val="85000"/>
              </a:srgbClr>
            </a:solidFill>
            <a:prstDash val="solid"/>
          </a:ln>
        </p:spPr>
      </p:sp>
      <p:sp>
        <p:nvSpPr>
          <p:cNvPr id="16" name="Text 14"/>
          <p:cNvSpPr/>
          <p:nvPr/>
        </p:nvSpPr>
        <p:spPr>
          <a:xfrm>
            <a:off x="347472" y="2322576"/>
            <a:ext cx="594360" cy="12618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L3</a:t>
            </a:r>
            <a:endParaRPr lang="en-US" sz="1000" dirty="0"/>
          </a:p>
        </p:txBody>
      </p:sp>
      <p:sp>
        <p:nvSpPr>
          <p:cNvPr id="17" name="Text 15"/>
          <p:cNvSpPr/>
          <p:nvPr/>
        </p:nvSpPr>
        <p:spPr>
          <a:xfrm>
            <a:off x="1033272" y="2414016"/>
            <a:ext cx="3337560" cy="347472"/>
          </a:xfrm>
          <a:prstGeom prst="rect">
            <a:avLst/>
          </a:prstGeom>
          <a:noFill/>
          <a:ln/>
        </p:spPr>
        <p:txBody>
          <a:bodyPr wrap="square" lIns="0" tIns="0" rIns="0" bIns="0" rtlCol="0" anchor="ctr"/>
          <a:lstStyle/>
          <a:p>
            <a:pPr algn="l" indent="0" marL="0">
              <a:buNone/>
            </a:pPr>
            <a:r>
              <a:rPr lang="en-US" sz="1050" b="1" dirty="0">
                <a:solidFill>
                  <a:srgbClr val="0B2545"/>
                </a:solidFill>
                <a:latin typeface="Calibri" pitchFamily="34" charset="0"/>
                <a:ea typeface="Calibri" pitchFamily="34" charset="-122"/>
                <a:cs typeface="Calibri" pitchFamily="34" charset="-120"/>
              </a:rPr>
              <a:t>Excluded variables</a:t>
            </a:r>
            <a:endParaRPr lang="en-US" sz="1050" dirty="0"/>
          </a:p>
        </p:txBody>
      </p:sp>
      <p:sp>
        <p:nvSpPr>
          <p:cNvPr id="18" name="Text 16"/>
          <p:cNvSpPr/>
          <p:nvPr/>
        </p:nvSpPr>
        <p:spPr>
          <a:xfrm>
            <a:off x="1033272" y="2779776"/>
            <a:ext cx="3337560" cy="685800"/>
          </a:xfrm>
          <a:prstGeom prst="rect">
            <a:avLst/>
          </a:prstGeom>
          <a:noFill/>
          <a:ln/>
        </p:spPr>
        <p:txBody>
          <a:bodyPr wrap="square" lIns="0" tIns="0" rIns="0" bIns="0" rtlCol="0" anchor="t"/>
          <a:lstStyle/>
          <a:p>
            <a:pPr algn="l" indent="0" marL="0">
              <a:buNone/>
            </a:pPr>
            <a:r>
              <a:rPr lang="en-US" sz="900" dirty="0">
                <a:solidFill>
                  <a:srgbClr val="3A5068"/>
                </a:solidFill>
                <a:latin typeface="Calibri" pitchFamily="34" charset="0"/>
                <a:ea typeface="Calibri" pitchFamily="34" charset="-122"/>
                <a:cs typeface="Calibri" pitchFamily="34" charset="-120"/>
              </a:rPr>
              <a:t>Insulin and SkinThickness were excluded due to excessive missingness. Important clinical information may be absent.</a:t>
            </a:r>
            <a:endParaRPr lang="en-US" sz="900" dirty="0"/>
          </a:p>
        </p:txBody>
      </p:sp>
      <p:sp>
        <p:nvSpPr>
          <p:cNvPr id="19" name="Shape 17"/>
          <p:cNvSpPr/>
          <p:nvPr/>
        </p:nvSpPr>
        <p:spPr>
          <a:xfrm>
            <a:off x="4782312" y="2322576"/>
            <a:ext cx="4160520" cy="1261872"/>
          </a:xfrm>
          <a:prstGeom prst="roundRect">
            <a:avLst>
              <a:gd name="adj" fmla="val 7246"/>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20" name="Shape 18"/>
          <p:cNvSpPr/>
          <p:nvPr/>
        </p:nvSpPr>
        <p:spPr>
          <a:xfrm>
            <a:off x="4782312" y="2322576"/>
            <a:ext cx="594360" cy="1261872"/>
          </a:xfrm>
          <a:prstGeom prst="roundRect">
            <a:avLst>
              <a:gd name="adj" fmla="val 15385"/>
            </a:avLst>
          </a:prstGeom>
          <a:solidFill>
            <a:srgbClr val="E63946">
              <a:alpha val="85000"/>
            </a:srgbClr>
          </a:solidFill>
          <a:ln w="12700">
            <a:solidFill>
              <a:srgbClr val="E63946">
                <a:alpha val="85000"/>
              </a:srgbClr>
            </a:solidFill>
            <a:prstDash val="solid"/>
          </a:ln>
        </p:spPr>
      </p:sp>
      <p:sp>
        <p:nvSpPr>
          <p:cNvPr id="21" name="Text 19"/>
          <p:cNvSpPr/>
          <p:nvPr/>
        </p:nvSpPr>
        <p:spPr>
          <a:xfrm>
            <a:off x="4782312" y="2322576"/>
            <a:ext cx="594360" cy="12618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L4</a:t>
            </a:r>
            <a:endParaRPr lang="en-US" sz="1000" dirty="0"/>
          </a:p>
        </p:txBody>
      </p:sp>
      <p:sp>
        <p:nvSpPr>
          <p:cNvPr id="22" name="Text 20"/>
          <p:cNvSpPr/>
          <p:nvPr/>
        </p:nvSpPr>
        <p:spPr>
          <a:xfrm>
            <a:off x="5468112" y="2414016"/>
            <a:ext cx="3337560" cy="347472"/>
          </a:xfrm>
          <a:prstGeom prst="rect">
            <a:avLst/>
          </a:prstGeom>
          <a:noFill/>
          <a:ln/>
        </p:spPr>
        <p:txBody>
          <a:bodyPr wrap="square" lIns="0" tIns="0" rIns="0" bIns="0" rtlCol="0" anchor="ctr"/>
          <a:lstStyle/>
          <a:p>
            <a:pPr algn="l" indent="0" marL="0">
              <a:buNone/>
            </a:pPr>
            <a:r>
              <a:rPr lang="en-US" sz="1050" b="1" dirty="0">
                <a:solidFill>
                  <a:srgbClr val="0B2545"/>
                </a:solidFill>
                <a:latin typeface="Calibri" pitchFamily="34" charset="0"/>
                <a:ea typeface="Calibri" pitchFamily="34" charset="-122"/>
                <a:cs typeface="Calibri" pitchFamily="34" charset="-120"/>
              </a:rPr>
              <a:t>Multiple comparisons</a:t>
            </a:r>
            <a:endParaRPr lang="en-US" sz="1050" dirty="0"/>
          </a:p>
        </p:txBody>
      </p:sp>
      <p:sp>
        <p:nvSpPr>
          <p:cNvPr id="23" name="Text 21"/>
          <p:cNvSpPr/>
          <p:nvPr/>
        </p:nvSpPr>
        <p:spPr>
          <a:xfrm>
            <a:off x="5468112" y="2779776"/>
            <a:ext cx="3337560" cy="685800"/>
          </a:xfrm>
          <a:prstGeom prst="rect">
            <a:avLst/>
          </a:prstGeom>
          <a:noFill/>
          <a:ln/>
        </p:spPr>
        <p:txBody>
          <a:bodyPr wrap="square" lIns="0" tIns="0" rIns="0" bIns="0" rtlCol="0" anchor="t"/>
          <a:lstStyle/>
          <a:p>
            <a:pPr algn="l" indent="0" marL="0">
              <a:buNone/>
            </a:pPr>
            <a:r>
              <a:rPr lang="en-US" sz="900" dirty="0">
                <a:solidFill>
                  <a:srgbClr val="3A5068"/>
                </a:solidFill>
                <a:latin typeface="Calibri" pitchFamily="34" charset="0"/>
                <a:ea typeface="Calibri" pitchFamily="34" charset="-122"/>
                <a:cs typeface="Calibri" pitchFamily="34" charset="-120"/>
              </a:rPr>
              <a:t>11 tests were run without Bonferroni or FDR correction. Weak findings (e.g. DPF vs Glucose, p=0.021) may be false positives.</a:t>
            </a:r>
            <a:endParaRPr lang="en-US" sz="900" dirty="0"/>
          </a:p>
        </p:txBody>
      </p:sp>
      <p:sp>
        <p:nvSpPr>
          <p:cNvPr id="24" name="Shape 22"/>
          <p:cNvSpPr/>
          <p:nvPr/>
        </p:nvSpPr>
        <p:spPr>
          <a:xfrm>
            <a:off x="347472" y="3712464"/>
            <a:ext cx="4160520" cy="1261872"/>
          </a:xfrm>
          <a:prstGeom prst="roundRect">
            <a:avLst>
              <a:gd name="adj" fmla="val 7246"/>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25" name="Shape 23"/>
          <p:cNvSpPr/>
          <p:nvPr/>
        </p:nvSpPr>
        <p:spPr>
          <a:xfrm>
            <a:off x="347472" y="3712464"/>
            <a:ext cx="594360" cy="1261872"/>
          </a:xfrm>
          <a:prstGeom prst="roundRect">
            <a:avLst>
              <a:gd name="adj" fmla="val 15385"/>
            </a:avLst>
          </a:prstGeom>
          <a:solidFill>
            <a:srgbClr val="3A7D44">
              <a:alpha val="85000"/>
            </a:srgbClr>
          </a:solidFill>
          <a:ln w="12700">
            <a:solidFill>
              <a:srgbClr val="3A7D44">
                <a:alpha val="85000"/>
              </a:srgbClr>
            </a:solidFill>
            <a:prstDash val="solid"/>
          </a:ln>
        </p:spPr>
      </p:sp>
      <p:sp>
        <p:nvSpPr>
          <p:cNvPr id="26" name="Text 24"/>
          <p:cNvSpPr/>
          <p:nvPr/>
        </p:nvSpPr>
        <p:spPr>
          <a:xfrm>
            <a:off x="347472" y="3712464"/>
            <a:ext cx="594360" cy="12618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L5</a:t>
            </a:r>
            <a:endParaRPr lang="en-US" sz="1000" dirty="0"/>
          </a:p>
        </p:txBody>
      </p:sp>
      <p:sp>
        <p:nvSpPr>
          <p:cNvPr id="27" name="Text 25"/>
          <p:cNvSpPr/>
          <p:nvPr/>
        </p:nvSpPr>
        <p:spPr>
          <a:xfrm>
            <a:off x="1033272" y="3803904"/>
            <a:ext cx="3337560" cy="347472"/>
          </a:xfrm>
          <a:prstGeom prst="rect">
            <a:avLst/>
          </a:prstGeom>
          <a:noFill/>
          <a:ln/>
        </p:spPr>
        <p:txBody>
          <a:bodyPr wrap="square" lIns="0" tIns="0" rIns="0" bIns="0" rtlCol="0" anchor="ctr"/>
          <a:lstStyle/>
          <a:p>
            <a:pPr algn="l" indent="0" marL="0">
              <a:buNone/>
            </a:pPr>
            <a:r>
              <a:rPr lang="en-US" sz="1050" b="1" dirty="0">
                <a:solidFill>
                  <a:srgbClr val="0B2545"/>
                </a:solidFill>
                <a:latin typeface="Calibri" pitchFamily="34" charset="0"/>
                <a:ea typeface="Calibri" pitchFamily="34" charset="-122"/>
                <a:cs typeface="Calibri" pitchFamily="34" charset="-120"/>
              </a:rPr>
              <a:t>Heteroscedasticity</a:t>
            </a:r>
            <a:endParaRPr lang="en-US" sz="1050" dirty="0"/>
          </a:p>
        </p:txBody>
      </p:sp>
      <p:sp>
        <p:nvSpPr>
          <p:cNvPr id="28" name="Text 26"/>
          <p:cNvSpPr/>
          <p:nvPr/>
        </p:nvSpPr>
        <p:spPr>
          <a:xfrm>
            <a:off x="1033272" y="4169664"/>
            <a:ext cx="3337560" cy="685800"/>
          </a:xfrm>
          <a:prstGeom prst="rect">
            <a:avLst/>
          </a:prstGeom>
          <a:noFill/>
          <a:ln/>
        </p:spPr>
        <p:txBody>
          <a:bodyPr wrap="square" lIns="0" tIns="0" rIns="0" bIns="0" rtlCol="0" anchor="t"/>
          <a:lstStyle/>
          <a:p>
            <a:pPr algn="l" indent="0" marL="0">
              <a:buNone/>
            </a:pPr>
            <a:r>
              <a:rPr lang="en-US" sz="900" dirty="0">
                <a:solidFill>
                  <a:srgbClr val="3A5068"/>
                </a:solidFill>
                <a:latin typeface="Calibri" pitchFamily="34" charset="0"/>
                <a:ea typeface="Calibri" pitchFamily="34" charset="-122"/>
                <a:cs typeface="Calibri" pitchFamily="34" charset="-120"/>
              </a:rPr>
              <a:t>Age vs Blood Pressure showed mild heteroscedasticity. Pearson coefficient should be interpreted with this caveat.</a:t>
            </a:r>
            <a:endParaRPr lang="en-US" sz="900" dirty="0"/>
          </a:p>
        </p:txBody>
      </p:sp>
      <p:sp>
        <p:nvSpPr>
          <p:cNvPr id="29" name="Shape 27"/>
          <p:cNvSpPr/>
          <p:nvPr/>
        </p:nvSpPr>
        <p:spPr>
          <a:xfrm>
            <a:off x="4782312" y="3712464"/>
            <a:ext cx="4160520" cy="1261872"/>
          </a:xfrm>
          <a:prstGeom prst="roundRect">
            <a:avLst>
              <a:gd name="adj" fmla="val 7246"/>
            </a:avLst>
          </a:prstGeom>
          <a:solidFill>
            <a:srgbClr val="FFFFFF"/>
          </a:solidFill>
          <a:ln w="12700">
            <a:solidFill>
              <a:srgbClr val="FFFFFF"/>
            </a:solidFill>
            <a:prstDash val="solid"/>
          </a:ln>
          <a:effectLst>
            <a:outerShdw sx="100000" sy="100000" kx="0" ky="0" algn="bl" rotWithShape="0" blurRad="101600" dist="38100" dir="2700000">
              <a:srgbClr val="000000">
                <a:alpha val="13000"/>
              </a:srgbClr>
            </a:outerShdw>
          </a:effectLst>
        </p:spPr>
      </p:sp>
      <p:sp>
        <p:nvSpPr>
          <p:cNvPr id="30" name="Shape 28"/>
          <p:cNvSpPr/>
          <p:nvPr/>
        </p:nvSpPr>
        <p:spPr>
          <a:xfrm>
            <a:off x="4782312" y="3712464"/>
            <a:ext cx="594360" cy="1261872"/>
          </a:xfrm>
          <a:prstGeom prst="roundRect">
            <a:avLst>
              <a:gd name="adj" fmla="val 15385"/>
            </a:avLst>
          </a:prstGeom>
          <a:solidFill>
            <a:srgbClr val="1A6B8A">
              <a:alpha val="85000"/>
            </a:srgbClr>
          </a:solidFill>
          <a:ln w="12700">
            <a:solidFill>
              <a:srgbClr val="1A6B8A">
                <a:alpha val="85000"/>
              </a:srgbClr>
            </a:solidFill>
            <a:prstDash val="solid"/>
          </a:ln>
        </p:spPr>
      </p:sp>
      <p:sp>
        <p:nvSpPr>
          <p:cNvPr id="31" name="Text 29"/>
          <p:cNvSpPr/>
          <p:nvPr/>
        </p:nvSpPr>
        <p:spPr>
          <a:xfrm>
            <a:off x="4782312" y="3712464"/>
            <a:ext cx="594360" cy="12618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L6</a:t>
            </a:r>
            <a:endParaRPr lang="en-US" sz="1000" dirty="0"/>
          </a:p>
        </p:txBody>
      </p:sp>
      <p:sp>
        <p:nvSpPr>
          <p:cNvPr id="32" name="Text 30"/>
          <p:cNvSpPr/>
          <p:nvPr/>
        </p:nvSpPr>
        <p:spPr>
          <a:xfrm>
            <a:off x="5468112" y="3803904"/>
            <a:ext cx="3337560" cy="347472"/>
          </a:xfrm>
          <a:prstGeom prst="rect">
            <a:avLst/>
          </a:prstGeom>
          <a:noFill/>
          <a:ln/>
        </p:spPr>
        <p:txBody>
          <a:bodyPr wrap="square" lIns="0" tIns="0" rIns="0" bIns="0" rtlCol="0" anchor="ctr"/>
          <a:lstStyle/>
          <a:p>
            <a:pPr algn="l" indent="0" marL="0">
              <a:buNone/>
            </a:pPr>
            <a:r>
              <a:rPr lang="en-US" sz="1050" b="1" dirty="0">
                <a:solidFill>
                  <a:srgbClr val="0B2545"/>
                </a:solidFill>
                <a:latin typeface="Calibri" pitchFamily="34" charset="0"/>
                <a:ea typeface="Calibri" pitchFamily="34" charset="-122"/>
                <a:cs typeface="Calibri" pitchFamily="34" charset="-120"/>
              </a:rPr>
              <a:t>Population specificity</a:t>
            </a:r>
            <a:endParaRPr lang="en-US" sz="1050" dirty="0"/>
          </a:p>
        </p:txBody>
      </p:sp>
      <p:sp>
        <p:nvSpPr>
          <p:cNvPr id="33" name="Text 31"/>
          <p:cNvSpPr/>
          <p:nvPr/>
        </p:nvSpPr>
        <p:spPr>
          <a:xfrm>
            <a:off x="5468112" y="4169664"/>
            <a:ext cx="3337560" cy="685800"/>
          </a:xfrm>
          <a:prstGeom prst="rect">
            <a:avLst/>
          </a:prstGeom>
          <a:noFill/>
          <a:ln/>
        </p:spPr>
        <p:txBody>
          <a:bodyPr wrap="square" lIns="0" tIns="0" rIns="0" bIns="0" rtlCol="0" anchor="t"/>
          <a:lstStyle/>
          <a:p>
            <a:pPr algn="l" indent="0" marL="0">
              <a:buNone/>
            </a:pPr>
            <a:r>
              <a:rPr lang="en-US" sz="900" dirty="0">
                <a:solidFill>
                  <a:srgbClr val="3A5068"/>
                </a:solidFill>
                <a:latin typeface="Calibri" pitchFamily="34" charset="0"/>
                <a:ea typeface="Calibri" pitchFamily="34" charset="-122"/>
                <a:cs typeface="Calibri" pitchFamily="34" charset="-120"/>
              </a:rPr>
              <a:t>Results apply only to Pima Indian women. Generalization to other populations is not supported.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6858000" y="2926080"/>
            <a:ext cx="3657600" cy="3657600"/>
          </a:xfrm>
          <a:prstGeom prst="ellipse">
            <a:avLst/>
          </a:prstGeom>
          <a:solidFill>
            <a:srgbClr val="1B6CA8">
              <a:alpha val="15000"/>
            </a:srgbClr>
          </a:solidFill>
          <a:ln w="12700">
            <a:solidFill>
              <a:srgbClr val="1B6CA8">
                <a:alpha val="15000"/>
              </a:srgbClr>
            </a:solidFill>
            <a:prstDash val="solid"/>
          </a:ln>
        </p:spPr>
      </p:sp>
      <p:sp>
        <p:nvSpPr>
          <p:cNvPr id="3" name="Shape 1"/>
          <p:cNvSpPr/>
          <p:nvPr/>
        </p:nvSpPr>
        <p:spPr>
          <a:xfrm>
            <a:off x="-914400" y="-731520"/>
            <a:ext cx="2560320" cy="2560320"/>
          </a:xfrm>
          <a:prstGeom prst="ellipse">
            <a:avLst/>
          </a:prstGeom>
          <a:solidFill>
            <a:srgbClr val="F4A261">
              <a:alpha val="15000"/>
            </a:srgbClr>
          </a:solidFill>
          <a:ln w="12700">
            <a:solidFill>
              <a:srgbClr val="F4A261">
                <a:alpha val="15000"/>
              </a:srgbClr>
            </a:solidFill>
            <a:prstDash val="solid"/>
          </a:ln>
        </p:spPr>
      </p:sp>
      <p:sp>
        <p:nvSpPr>
          <p:cNvPr id="4" name="Text 2"/>
          <p:cNvSpPr/>
          <p:nvPr/>
        </p:nvSpPr>
        <p:spPr>
          <a:xfrm>
            <a:off x="548640" y="347472"/>
            <a:ext cx="7315200" cy="411480"/>
          </a:xfrm>
          <a:prstGeom prst="rect">
            <a:avLst/>
          </a:prstGeom>
          <a:noFill/>
          <a:ln/>
        </p:spPr>
        <p:txBody>
          <a:bodyPr wrap="square" rtlCol="0" anchor="ctr"/>
          <a:lstStyle/>
          <a:p>
            <a:pPr algn="l" indent="0" marL="0">
              <a:buNone/>
            </a:pPr>
            <a:r>
              <a:rPr lang="en-US" sz="1300" b="1" spc="200" kern="0" dirty="0">
                <a:solidFill>
                  <a:srgbClr val="8FB8D4"/>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548640" y="822960"/>
            <a:ext cx="7772400" cy="1417320"/>
          </a:xfrm>
          <a:prstGeom prst="rect">
            <a:avLst/>
          </a:prstGeom>
          <a:noFill/>
          <a:ln/>
        </p:spPr>
        <p:txBody>
          <a:bodyPr wrap="square"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Clinical variables are more informative</a:t>
            </a:r>
            <a:endParaRPr lang="en-US" sz="2400" dirty="0"/>
          </a:p>
          <a:p>
            <a:pPr algn="l" indent="0" marL="0">
              <a:buNone/>
            </a:pPr>
            <a:r>
              <a:rPr lang="en-US" sz="2400" b="1" dirty="0">
                <a:solidFill>
                  <a:srgbClr val="FFFFFF"/>
                </a:solidFill>
                <a:latin typeface="Cambria" pitchFamily="34" charset="0"/>
                <a:ea typeface="Cambria" pitchFamily="34" charset="-122"/>
                <a:cs typeface="Cambria" pitchFamily="34" charset="-120"/>
              </a:rPr>
              <a:t>than demographic characteristics</a:t>
            </a:r>
            <a:endParaRPr lang="en-US" sz="2400" dirty="0"/>
          </a:p>
          <a:p>
            <a:pPr algn="l" indent="0" marL="0">
              <a:buNone/>
            </a:pPr>
            <a:r>
              <a:rPr lang="en-US" sz="2400" b="1" dirty="0">
                <a:solidFill>
                  <a:srgbClr val="FFFFFF"/>
                </a:solidFill>
                <a:latin typeface="Cambria" pitchFamily="34" charset="0"/>
                <a:ea typeface="Cambria" pitchFamily="34" charset="-122"/>
                <a:cs typeface="Cambria" pitchFamily="34" charset="-120"/>
              </a:rPr>
              <a:t>for diabetes status.</a:t>
            </a:r>
            <a:endParaRPr lang="en-US" sz="2400" dirty="0"/>
          </a:p>
        </p:txBody>
      </p:sp>
      <p:sp>
        <p:nvSpPr>
          <p:cNvPr id="6" name="Text 4"/>
          <p:cNvSpPr/>
          <p:nvPr/>
        </p:nvSpPr>
        <p:spPr>
          <a:xfrm>
            <a:off x="548640" y="2359152"/>
            <a:ext cx="5029200" cy="320040"/>
          </a:xfrm>
          <a:prstGeom prst="rect">
            <a:avLst/>
          </a:prstGeom>
          <a:noFill/>
          <a:ln/>
        </p:spPr>
        <p:txBody>
          <a:bodyPr wrap="square" rtlCol="0" anchor="ctr"/>
          <a:lstStyle/>
          <a:p>
            <a:pPr algn="l" indent="0" marL="0">
              <a:buNone/>
            </a:pPr>
            <a:r>
              <a:rPr lang="en-US" sz="1000" dirty="0">
                <a:solidFill>
                  <a:srgbClr val="8FB8D4"/>
                </a:solidFill>
                <a:latin typeface="Calibri" pitchFamily="34" charset="0"/>
                <a:ea typeface="Calibri" pitchFamily="34" charset="-122"/>
                <a:cs typeface="Calibri" pitchFamily="34" charset="-120"/>
              </a:rPr>
              <a:t>Association hierarchy with diabetes status:</a:t>
            </a:r>
            <a:endParaRPr lang="en-US" sz="1000" dirty="0"/>
          </a:p>
        </p:txBody>
      </p:sp>
      <p:sp>
        <p:nvSpPr>
          <p:cNvPr id="7" name="Shape 5"/>
          <p:cNvSpPr/>
          <p:nvPr/>
        </p:nvSpPr>
        <p:spPr>
          <a:xfrm>
            <a:off x="548640" y="2752344"/>
            <a:ext cx="1645920" cy="1316736"/>
          </a:xfrm>
          <a:prstGeom prst="roundRect">
            <a:avLst>
              <a:gd name="adj" fmla="val 4167"/>
            </a:avLst>
          </a:prstGeom>
          <a:solidFill>
            <a:srgbClr val="1B6CA8"/>
          </a:solidFill>
          <a:ln w="12700">
            <a:solidFill>
              <a:srgbClr val="1B6CA8"/>
            </a:solidFill>
            <a:prstDash val="solid"/>
          </a:ln>
        </p:spPr>
      </p:sp>
      <p:sp>
        <p:nvSpPr>
          <p:cNvPr id="8" name="Text 6"/>
          <p:cNvSpPr/>
          <p:nvPr/>
        </p:nvSpPr>
        <p:spPr>
          <a:xfrm>
            <a:off x="548640" y="2478024"/>
            <a:ext cx="16459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 = 0.488</a:t>
            </a:r>
            <a:endParaRPr lang="en-US" sz="900" dirty="0"/>
          </a:p>
        </p:txBody>
      </p:sp>
      <p:sp>
        <p:nvSpPr>
          <p:cNvPr id="9" name="Text 7"/>
          <p:cNvSpPr/>
          <p:nvPr/>
        </p:nvSpPr>
        <p:spPr>
          <a:xfrm>
            <a:off x="548640" y="4133088"/>
            <a:ext cx="1645920" cy="274320"/>
          </a:xfrm>
          <a:prstGeom prst="rect">
            <a:avLst/>
          </a:prstGeom>
          <a:noFill/>
          <a:ln/>
        </p:spPr>
        <p:txBody>
          <a:bodyPr wrap="square" rtlCol="0" anchor="ctr"/>
          <a:lstStyle/>
          <a:p>
            <a:pPr algn="ctr" indent="0" marL="0">
              <a:buNone/>
            </a:pPr>
            <a:r>
              <a:rPr lang="en-US" sz="900" dirty="0">
                <a:solidFill>
                  <a:srgbClr val="8FB8D4"/>
                </a:solidFill>
                <a:latin typeface="Calibri" pitchFamily="34" charset="0"/>
                <a:ea typeface="Calibri" pitchFamily="34" charset="-122"/>
                <a:cs typeface="Calibri" pitchFamily="34" charset="-120"/>
              </a:rPr>
              <a:t>Glucose</a:t>
            </a:r>
            <a:endParaRPr lang="en-US" sz="900" dirty="0"/>
          </a:p>
        </p:txBody>
      </p:sp>
      <p:sp>
        <p:nvSpPr>
          <p:cNvPr id="10" name="Shape 8"/>
          <p:cNvSpPr/>
          <p:nvPr/>
        </p:nvSpPr>
        <p:spPr>
          <a:xfrm>
            <a:off x="2560320" y="2957170"/>
            <a:ext cx="1645920" cy="1111910"/>
          </a:xfrm>
          <a:prstGeom prst="roundRect">
            <a:avLst>
              <a:gd name="adj" fmla="val 4934"/>
            </a:avLst>
          </a:prstGeom>
          <a:solidFill>
            <a:srgbClr val="1B8FC4"/>
          </a:solidFill>
          <a:ln w="12700">
            <a:solidFill>
              <a:srgbClr val="1B8FC4"/>
            </a:solidFill>
            <a:prstDash val="solid"/>
          </a:ln>
        </p:spPr>
      </p:sp>
      <p:sp>
        <p:nvSpPr>
          <p:cNvPr id="11" name="Text 9"/>
          <p:cNvSpPr/>
          <p:nvPr/>
        </p:nvSpPr>
        <p:spPr>
          <a:xfrm>
            <a:off x="2560320" y="2682850"/>
            <a:ext cx="16459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 = 0.299</a:t>
            </a:r>
            <a:endParaRPr lang="en-US" sz="900" dirty="0"/>
          </a:p>
        </p:txBody>
      </p:sp>
      <p:sp>
        <p:nvSpPr>
          <p:cNvPr id="12" name="Text 10"/>
          <p:cNvSpPr/>
          <p:nvPr/>
        </p:nvSpPr>
        <p:spPr>
          <a:xfrm>
            <a:off x="2560320" y="4133088"/>
            <a:ext cx="1645920" cy="274320"/>
          </a:xfrm>
          <a:prstGeom prst="rect">
            <a:avLst/>
          </a:prstGeom>
          <a:noFill/>
          <a:ln/>
        </p:spPr>
        <p:txBody>
          <a:bodyPr wrap="square" rtlCol="0" anchor="ctr"/>
          <a:lstStyle/>
          <a:p>
            <a:pPr algn="ctr" indent="0" marL="0">
              <a:buNone/>
            </a:pPr>
            <a:r>
              <a:rPr lang="en-US" sz="900" dirty="0">
                <a:solidFill>
                  <a:srgbClr val="8FB8D4"/>
                </a:solidFill>
                <a:latin typeface="Calibri" pitchFamily="34" charset="0"/>
                <a:ea typeface="Calibri" pitchFamily="34" charset="-122"/>
                <a:cs typeface="Calibri" pitchFamily="34" charset="-120"/>
              </a:rPr>
              <a:t>BMI</a:t>
            </a:r>
            <a:endParaRPr lang="en-US" sz="900" dirty="0"/>
          </a:p>
        </p:txBody>
      </p:sp>
      <p:sp>
        <p:nvSpPr>
          <p:cNvPr id="13" name="Shape 11"/>
          <p:cNvSpPr/>
          <p:nvPr/>
        </p:nvSpPr>
        <p:spPr>
          <a:xfrm>
            <a:off x="4572000" y="3161995"/>
            <a:ext cx="1645920" cy="907085"/>
          </a:xfrm>
          <a:prstGeom prst="roundRect">
            <a:avLst>
              <a:gd name="adj" fmla="val 6048"/>
            </a:avLst>
          </a:prstGeom>
          <a:solidFill>
            <a:srgbClr val="3AAFDC"/>
          </a:solidFill>
          <a:ln w="12700">
            <a:solidFill>
              <a:srgbClr val="3AAFDC"/>
            </a:solidFill>
            <a:prstDash val="solid"/>
          </a:ln>
        </p:spPr>
      </p:sp>
      <p:sp>
        <p:nvSpPr>
          <p:cNvPr id="14" name="Text 12"/>
          <p:cNvSpPr/>
          <p:nvPr/>
        </p:nvSpPr>
        <p:spPr>
          <a:xfrm>
            <a:off x="4572000" y="2887675"/>
            <a:ext cx="16459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 = 0.246</a:t>
            </a:r>
            <a:endParaRPr lang="en-US" sz="900" dirty="0"/>
          </a:p>
        </p:txBody>
      </p:sp>
      <p:sp>
        <p:nvSpPr>
          <p:cNvPr id="15" name="Text 13"/>
          <p:cNvSpPr/>
          <p:nvPr/>
        </p:nvSpPr>
        <p:spPr>
          <a:xfrm>
            <a:off x="4572000" y="4133088"/>
            <a:ext cx="1645920" cy="274320"/>
          </a:xfrm>
          <a:prstGeom prst="rect">
            <a:avLst/>
          </a:prstGeom>
          <a:noFill/>
          <a:ln/>
        </p:spPr>
        <p:txBody>
          <a:bodyPr wrap="square" rtlCol="0" anchor="ctr"/>
          <a:lstStyle/>
          <a:p>
            <a:pPr algn="ctr" indent="0" marL="0">
              <a:buNone/>
            </a:pPr>
            <a:r>
              <a:rPr lang="en-US" sz="900" dirty="0">
                <a:solidFill>
                  <a:srgbClr val="8FB8D4"/>
                </a:solidFill>
                <a:latin typeface="Calibri" pitchFamily="34" charset="0"/>
                <a:ea typeface="Calibri" pitchFamily="34" charset="-122"/>
                <a:cs typeface="Calibri" pitchFamily="34" charset="-120"/>
              </a:rPr>
              <a:t>Age</a:t>
            </a:r>
            <a:endParaRPr lang="en-US" sz="900" dirty="0"/>
          </a:p>
        </p:txBody>
      </p:sp>
      <p:sp>
        <p:nvSpPr>
          <p:cNvPr id="16" name="Shape 14"/>
          <p:cNvSpPr/>
          <p:nvPr/>
        </p:nvSpPr>
        <p:spPr>
          <a:xfrm>
            <a:off x="6583680" y="3366821"/>
            <a:ext cx="1645920" cy="702259"/>
          </a:xfrm>
          <a:prstGeom prst="roundRect">
            <a:avLst>
              <a:gd name="adj" fmla="val 7813"/>
            </a:avLst>
          </a:prstGeom>
          <a:solidFill>
            <a:srgbClr val="7FCFE8"/>
          </a:solidFill>
          <a:ln w="12700">
            <a:solidFill>
              <a:srgbClr val="7FCFE8"/>
            </a:solidFill>
            <a:prstDash val="solid"/>
          </a:ln>
        </p:spPr>
      </p:sp>
      <p:sp>
        <p:nvSpPr>
          <p:cNvPr id="17" name="Text 15"/>
          <p:cNvSpPr/>
          <p:nvPr/>
        </p:nvSpPr>
        <p:spPr>
          <a:xfrm>
            <a:off x="6583680" y="3092501"/>
            <a:ext cx="16459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 = 0.167</a:t>
            </a:r>
            <a:endParaRPr lang="en-US" sz="900" dirty="0"/>
          </a:p>
        </p:txBody>
      </p:sp>
      <p:sp>
        <p:nvSpPr>
          <p:cNvPr id="18" name="Text 16"/>
          <p:cNvSpPr/>
          <p:nvPr/>
        </p:nvSpPr>
        <p:spPr>
          <a:xfrm>
            <a:off x="6583680" y="4133088"/>
            <a:ext cx="1645920" cy="274320"/>
          </a:xfrm>
          <a:prstGeom prst="rect">
            <a:avLst/>
          </a:prstGeom>
          <a:noFill/>
          <a:ln/>
        </p:spPr>
        <p:txBody>
          <a:bodyPr wrap="square" rtlCol="0" anchor="ctr"/>
          <a:lstStyle/>
          <a:p>
            <a:pPr algn="ctr" indent="0" marL="0">
              <a:buNone/>
            </a:pPr>
            <a:r>
              <a:rPr lang="en-US" sz="900" dirty="0">
                <a:solidFill>
                  <a:srgbClr val="8FB8D4"/>
                </a:solidFill>
                <a:latin typeface="Calibri" pitchFamily="34" charset="0"/>
                <a:ea typeface="Calibri" pitchFamily="34" charset="-122"/>
                <a:cs typeface="Calibri" pitchFamily="34" charset="-120"/>
              </a:rPr>
              <a:t>Blood Pressure</a:t>
            </a:r>
            <a:endParaRPr lang="en-US" sz="900" dirty="0"/>
          </a:p>
        </p:txBody>
      </p:sp>
      <p:sp>
        <p:nvSpPr>
          <p:cNvPr id="19" name="Text 17"/>
          <p:cNvSpPr/>
          <p:nvPr/>
        </p:nvSpPr>
        <p:spPr>
          <a:xfrm>
            <a:off x="548640" y="4681728"/>
            <a:ext cx="8229600" cy="292608"/>
          </a:xfrm>
          <a:prstGeom prst="rect">
            <a:avLst/>
          </a:prstGeom>
          <a:noFill/>
          <a:ln/>
        </p:spPr>
        <p:txBody>
          <a:bodyPr wrap="square" rtlCol="0" anchor="ctr"/>
          <a:lstStyle/>
          <a:p>
            <a:pPr algn="l" indent="0" marL="0">
              <a:buNone/>
            </a:pPr>
            <a:r>
              <a:rPr lang="en-US" sz="950" i="1" dirty="0">
                <a:solidFill>
                  <a:srgbClr val="8FB8D4"/>
                </a:solidFill>
                <a:latin typeface="Calibri" pitchFamily="34" charset="0"/>
                <a:ea typeface="Calibri" pitchFamily="34" charset="-122"/>
                <a:cs typeface="Calibri" pitchFamily="34" charset="-120"/>
              </a:rPr>
              <a:t>Future work: logistic regression to examine independent contributions of multiple risk factors simultaneously.</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2545"/>
          </a:solidFill>
          <a:ln w="12700">
            <a:solidFill>
              <a:srgbClr val="0B2545"/>
            </a:solidFill>
            <a:prstDash val="solid"/>
          </a:ln>
        </p:spPr>
      </p:sp>
      <p:sp>
        <p:nvSpPr>
          <p:cNvPr id="3" name="Text 1"/>
          <p:cNvSpPr/>
          <p:nvPr/>
        </p:nvSpPr>
        <p:spPr>
          <a:xfrm>
            <a:off x="457200" y="0"/>
            <a:ext cx="8229600" cy="777240"/>
          </a:xfrm>
          <a:prstGeom prst="rect">
            <a:avLst/>
          </a:prstGeom>
          <a:noFill/>
          <a:ln/>
        </p:spPr>
        <p:txBody>
          <a:bodyPr wrap="square" rtlCol="0" anchor="ctr"/>
          <a:lstStyle/>
          <a:p>
            <a:pPr algn="l" indent="0" marL="0">
              <a:buNone/>
            </a:pPr>
            <a:r>
              <a:rPr lang="en-US" sz="1300" b="1" spc="200" kern="0" dirty="0">
                <a:solidFill>
                  <a:srgbClr val="FFFFFF"/>
                </a:solidFill>
                <a:latin typeface="Calibri" pitchFamily="34" charset="0"/>
                <a:ea typeface="Calibri" pitchFamily="34" charset="-122"/>
                <a:cs typeface="Calibri" pitchFamily="34" charset="-120"/>
              </a:rPr>
              <a:t>REFERENCES</a:t>
            </a:r>
            <a:endParaRPr lang="en-US" sz="1300" dirty="0"/>
          </a:p>
        </p:txBody>
      </p:sp>
      <p:sp>
        <p:nvSpPr>
          <p:cNvPr id="4" name="Text 2"/>
          <p:cNvSpPr/>
          <p:nvPr/>
        </p:nvSpPr>
        <p:spPr>
          <a:xfrm>
            <a:off x="594360" y="960120"/>
            <a:ext cx="8046720" cy="713232"/>
          </a:xfrm>
          <a:prstGeom prst="rect">
            <a:avLst/>
          </a:prstGeom>
          <a:noFill/>
          <a:ln/>
        </p:spPr>
        <p:txBody>
          <a:bodyPr wrap="square" rtlCol="0" anchor="t"/>
          <a:lstStyle/>
          <a:p>
            <a:pPr algn="l" indent="0" marL="0">
              <a:buNone/>
            </a:pPr>
            <a:r>
              <a:rPr lang="en-US" sz="950" dirty="0">
                <a:solidFill>
                  <a:srgbClr val="0B2545"/>
                </a:solidFill>
                <a:latin typeface="Calibri" pitchFamily="34" charset="0"/>
                <a:ea typeface="Calibri" pitchFamily="34" charset="-122"/>
                <a:cs typeface="Calibri" pitchFamily="34" charset="-120"/>
              </a:rPr>
              <a:t>Field, A., Miles, J., &amp; Field, Z. (2012). Discovering statistics using R. SAGE Publications.</a:t>
            </a:r>
            <a:endParaRPr lang="en-US" sz="950" dirty="0"/>
          </a:p>
        </p:txBody>
      </p:sp>
      <p:sp>
        <p:nvSpPr>
          <p:cNvPr id="5" name="Shape 3"/>
          <p:cNvSpPr/>
          <p:nvPr/>
        </p:nvSpPr>
        <p:spPr>
          <a:xfrm>
            <a:off x="594360" y="1664208"/>
            <a:ext cx="8046720" cy="0"/>
          </a:xfrm>
          <a:prstGeom prst="line">
            <a:avLst/>
          </a:prstGeom>
          <a:noFill/>
          <a:ln w="6350">
            <a:solidFill>
              <a:srgbClr val="D0DFF0"/>
            </a:solidFill>
            <a:prstDash val="solid"/>
          </a:ln>
        </p:spPr>
      </p:sp>
      <p:sp>
        <p:nvSpPr>
          <p:cNvPr id="6" name="Text 4"/>
          <p:cNvSpPr/>
          <p:nvPr/>
        </p:nvSpPr>
        <p:spPr>
          <a:xfrm>
            <a:off x="594360" y="1764792"/>
            <a:ext cx="8046720" cy="713232"/>
          </a:xfrm>
          <a:prstGeom prst="rect">
            <a:avLst/>
          </a:prstGeom>
          <a:noFill/>
          <a:ln/>
        </p:spPr>
        <p:txBody>
          <a:bodyPr wrap="square" rtlCol="0" anchor="t"/>
          <a:lstStyle/>
          <a:p>
            <a:pPr algn="l" indent="0" marL="0">
              <a:buNone/>
            </a:pPr>
            <a:r>
              <a:rPr lang="en-US" sz="950" dirty="0">
                <a:solidFill>
                  <a:srgbClr val="0B2545"/>
                </a:solidFill>
                <a:latin typeface="Calibri" pitchFamily="34" charset="0"/>
                <a:ea typeface="Calibri" pitchFamily="34" charset="-122"/>
                <a:cs typeface="Calibri" pitchFamily="34" charset="-120"/>
              </a:rPr>
              <a:t>Knowler, W. C., Bennett, P. H., Hamman, R. F., &amp; Miller, M. (1978). Diabetes incidence and prevalence in Pima Indians: A 19-fold greater incidence than in Rochester, Minnesota. American Journal of Epidemiology, 108(6), 497–505. https://doi.org/10.1093/oxfordjournals.aje.a112648</a:t>
            </a:r>
            <a:endParaRPr lang="en-US" sz="950" dirty="0"/>
          </a:p>
        </p:txBody>
      </p:sp>
      <p:sp>
        <p:nvSpPr>
          <p:cNvPr id="7" name="Shape 5"/>
          <p:cNvSpPr/>
          <p:nvPr/>
        </p:nvSpPr>
        <p:spPr>
          <a:xfrm>
            <a:off x="594360" y="2468880"/>
            <a:ext cx="8046720" cy="0"/>
          </a:xfrm>
          <a:prstGeom prst="line">
            <a:avLst/>
          </a:prstGeom>
          <a:noFill/>
          <a:ln w="6350">
            <a:solidFill>
              <a:srgbClr val="D0DFF0"/>
            </a:solidFill>
            <a:prstDash val="solid"/>
          </a:ln>
        </p:spPr>
      </p:sp>
      <p:sp>
        <p:nvSpPr>
          <p:cNvPr id="8" name="Text 6"/>
          <p:cNvSpPr/>
          <p:nvPr/>
        </p:nvSpPr>
        <p:spPr>
          <a:xfrm>
            <a:off x="594360" y="2569464"/>
            <a:ext cx="8046720" cy="713232"/>
          </a:xfrm>
          <a:prstGeom prst="rect">
            <a:avLst/>
          </a:prstGeom>
          <a:noFill/>
          <a:ln/>
        </p:spPr>
        <p:txBody>
          <a:bodyPr wrap="square" rtlCol="0" anchor="t"/>
          <a:lstStyle/>
          <a:p>
            <a:pPr algn="l" indent="0" marL="0">
              <a:buNone/>
            </a:pPr>
            <a:r>
              <a:rPr lang="en-US" sz="950" dirty="0">
                <a:solidFill>
                  <a:srgbClr val="0B2545"/>
                </a:solidFill>
                <a:latin typeface="Calibri" pitchFamily="34" charset="0"/>
                <a:ea typeface="Calibri" pitchFamily="34" charset="-122"/>
                <a:cs typeface="Calibri" pitchFamily="34" charset="-120"/>
              </a:rPr>
              <a:t>R Core Team. (2025). R: A language and environment for statistical computing. R Foundation for Statistical Computing. Vienna, Austria. https://www.R-project.org/</a:t>
            </a:r>
            <a:endParaRPr lang="en-US" sz="950" dirty="0"/>
          </a:p>
        </p:txBody>
      </p:sp>
      <p:sp>
        <p:nvSpPr>
          <p:cNvPr id="9" name="Shape 7"/>
          <p:cNvSpPr/>
          <p:nvPr/>
        </p:nvSpPr>
        <p:spPr>
          <a:xfrm>
            <a:off x="594360" y="3273552"/>
            <a:ext cx="8046720" cy="0"/>
          </a:xfrm>
          <a:prstGeom prst="line">
            <a:avLst/>
          </a:prstGeom>
          <a:noFill/>
          <a:ln w="6350">
            <a:solidFill>
              <a:srgbClr val="D0DFF0"/>
            </a:solidFill>
            <a:prstDash val="solid"/>
          </a:ln>
        </p:spPr>
      </p:sp>
      <p:sp>
        <p:nvSpPr>
          <p:cNvPr id="10" name="Text 8"/>
          <p:cNvSpPr/>
          <p:nvPr/>
        </p:nvSpPr>
        <p:spPr>
          <a:xfrm>
            <a:off x="594360" y="3374136"/>
            <a:ext cx="8046720" cy="713232"/>
          </a:xfrm>
          <a:prstGeom prst="rect">
            <a:avLst/>
          </a:prstGeom>
          <a:noFill/>
          <a:ln/>
        </p:spPr>
        <p:txBody>
          <a:bodyPr wrap="square" rtlCol="0" anchor="t"/>
          <a:lstStyle/>
          <a:p>
            <a:pPr algn="l" indent="0" marL="0">
              <a:buNone/>
            </a:pPr>
            <a:r>
              <a:rPr lang="en-US" sz="950" dirty="0">
                <a:solidFill>
                  <a:srgbClr val="0B2545"/>
                </a:solidFill>
                <a:latin typeface="Calibri" pitchFamily="34" charset="0"/>
                <a:ea typeface="Calibri" pitchFamily="34" charset="-122"/>
                <a:cs typeface="Calibri" pitchFamily="34" charset="-120"/>
              </a:rPr>
              <a:t>UCI Machine Learning Repository. (n.d.). Pima Indians Diabetes Database. Retrieved June 22, 2026, from https://archive.ics.uci.edu/dataset/34/diabetes</a:t>
            </a:r>
            <a:endParaRPr lang="en-US" sz="950" dirty="0"/>
          </a:p>
        </p:txBody>
      </p:sp>
      <p:sp>
        <p:nvSpPr>
          <p:cNvPr id="11" name="Shape 9"/>
          <p:cNvSpPr/>
          <p:nvPr/>
        </p:nvSpPr>
        <p:spPr>
          <a:xfrm>
            <a:off x="594360" y="4078224"/>
            <a:ext cx="8046720" cy="0"/>
          </a:xfrm>
          <a:prstGeom prst="line">
            <a:avLst/>
          </a:prstGeom>
          <a:noFill/>
          <a:ln w="6350">
            <a:solidFill>
              <a:srgbClr val="D0DFF0"/>
            </a:solidFill>
            <a:prstDash val="solid"/>
          </a:ln>
        </p:spPr>
      </p:sp>
      <p:sp>
        <p:nvSpPr>
          <p:cNvPr id="12" name="Text 10"/>
          <p:cNvSpPr/>
          <p:nvPr/>
        </p:nvSpPr>
        <p:spPr>
          <a:xfrm>
            <a:off x="594360" y="4178808"/>
            <a:ext cx="8046720" cy="713232"/>
          </a:xfrm>
          <a:prstGeom prst="rect">
            <a:avLst/>
          </a:prstGeom>
          <a:noFill/>
          <a:ln/>
        </p:spPr>
        <p:txBody>
          <a:bodyPr wrap="square" rtlCol="0" anchor="t"/>
          <a:lstStyle/>
          <a:p>
            <a:pPr algn="l" indent="0" marL="0">
              <a:buNone/>
            </a:pPr>
            <a:r>
              <a:rPr lang="en-US" sz="950" dirty="0">
                <a:solidFill>
                  <a:srgbClr val="0B2545"/>
                </a:solidFill>
                <a:latin typeface="Calibri" pitchFamily="34" charset="0"/>
                <a:ea typeface="Calibri" pitchFamily="34" charset="-122"/>
                <a:cs typeface="Calibri" pitchFamily="34" charset="-120"/>
              </a:rPr>
              <a:t>World Health Organization. (2024, November 14). Diabetes. https://www.who.int/news-room/fact-sheets/detail/diabetes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Correlation Analysis — Pima Indians Diabetes Dataset</dc:title>
  <dc:subject>PptxGenJS Presentation</dc:subject>
  <dc:creator>Obed</dc:creator>
  <cp:lastModifiedBy>Obed</cp:lastModifiedBy>
  <cp:revision>1</cp:revision>
  <dcterms:created xsi:type="dcterms:W3CDTF">2026-06-22T09:14:34Z</dcterms:created>
  <dcterms:modified xsi:type="dcterms:W3CDTF">2026-06-22T09:14:34Z</dcterms:modified>
</cp:coreProperties>
</file>