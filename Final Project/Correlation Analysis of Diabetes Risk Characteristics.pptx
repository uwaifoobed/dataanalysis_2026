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 autoAdjust="0"/>
    <p:restoredTop sz="81881" autoAdjust="0"/>
  </p:normalViewPr>
  <p:slideViewPr>
    <p:cSldViewPr snapToGrid="0" snapToObjects="1">
      <p:cViewPr varScale="1">
        <p:scale>
          <a:sx n="79" d="100"/>
          <a:sy n="79" d="100"/>
        </p:scale>
        <p:origin x="108" y="13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GB" sz="1000" b="0" i="0" u="none" strike="noStrike" dirty="0">
                <a:solidFill>
                  <a:srgbClr val="0B2545"/>
                </a:solidFill>
                <a:latin typeface="Arial"/>
              </a:rPr>
              <a:t>Point-Biserial Correlations with Diabetes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F8-42CF-9F22-8B0F799E3BB4}"/>
              </c:ext>
            </c:extLst>
          </c:dPt>
          <c:dPt>
            <c:idx val="1"/>
            <c:invertIfNegative val="0"/>
            <c:bubble3D val="0"/>
            <c:spPr>
              <a:solidFill>
                <a:srgbClr val="1B8F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F8-42CF-9F22-8B0F799E3BB4}"/>
              </c:ext>
            </c:extLst>
          </c:dPt>
          <c:dPt>
            <c:idx val="2"/>
            <c:invertIfNegative val="0"/>
            <c:bubble3D val="0"/>
            <c:spPr>
              <a:solidFill>
                <a:srgbClr val="3AAF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F8-42CF-9F22-8B0F799E3BB4}"/>
              </c:ext>
            </c:extLst>
          </c:dPt>
          <c:dPt>
            <c:idx val="3"/>
            <c:invertIfNegative val="0"/>
            <c:bubble3D val="0"/>
            <c:spPr>
              <a:solidFill>
                <a:srgbClr val="7FCF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2F8-42CF-9F22-8B0F799E3BB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80E0CD5-3112-47D3-AA18-9049860F50C8}" type="VALUE">
                      <a:rPr lang="en-US" smtClean="0"/>
                      <a:pPr/>
                      <a:t>[VALUE]</a:t>
                    </a:fld>
                    <a:r>
                      <a:rPr lang="en-US"/>
                      <a:t>.488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2F8-42CF-9F22-8B0F799E3BB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502E696-9A47-4186-A213-C1EB3450A59B}" type="VALUE">
                      <a:rPr lang="en-US" smtClean="0"/>
                      <a:pPr/>
                      <a:t>[VALUE]</a:t>
                    </a:fld>
                    <a:r>
                      <a:rPr lang="en-US"/>
                      <a:t>.299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2F8-42CF-9F22-8B0F799E3BB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0.246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2F8-42CF-9F22-8B0F799E3BB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0.167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2F8-42CF-9F22-8B0F799E3BB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Glucose</c:v>
                </c:pt>
                <c:pt idx="1">
                  <c:v>BMI</c:v>
                </c:pt>
                <c:pt idx="2">
                  <c:v>Age</c:v>
                </c:pt>
                <c:pt idx="3">
                  <c:v>Blood Pressure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0.48799999999999999</c:v>
                </c:pt>
                <c:pt idx="1">
                  <c:v>0.29899999999999999</c:v>
                </c:pt>
                <c:pt idx="2">
                  <c:v>0.246</c:v>
                </c:pt>
                <c:pt idx="3">
                  <c:v>0.16700000000000001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2F8-42CF-9F22-8B0F799E3B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3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B6CA8">
              <a:alpha val="25000"/>
            </a:srgbClr>
          </a:solidFill>
          <a:ln w="12700">
            <a:solidFill>
              <a:srgbClr val="1B6CA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011680" cy="201168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CORRELATION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 of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Risk Characteristics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519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Dataset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1B6CA8">
              <a:alpha val="80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How are clinical, demographic, and familial risk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related to diabetes status and to one another?</a:t>
            </a:r>
            <a:endParaRPr lang="en-US" sz="14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7DB9B83-5523-AB42-69F0-BF61F0CE32AD}"/>
              </a:ext>
            </a:extLst>
          </p:cNvPr>
          <p:cNvSpPr/>
          <p:nvPr/>
        </p:nvSpPr>
        <p:spPr>
          <a:xfrm>
            <a:off x="640080" y="43307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Uwaifo Obed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BACKGROUND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117043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84632" y="187452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219456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92608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" y="309067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84632" y="37947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411480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for analysis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17520" y="100584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27248" y="117043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34.4%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090672" y="187452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Prevalence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90672" y="219456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cleaned dataset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17520" y="292608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27248" y="309067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Pima Indian Women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90672" y="37947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90672" y="411480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adult, female only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0" y="960120"/>
            <a:ext cx="3246120" cy="38404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23560" y="10789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Categories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50992" y="1536192"/>
            <a:ext cx="2926080" cy="685800"/>
          </a:xfrm>
          <a:prstGeom prst="roundRect">
            <a:avLst>
              <a:gd name="adj" fmla="val 9333"/>
            </a:avLst>
          </a:prstGeom>
          <a:solidFill>
            <a:srgbClr val="1B6CA8">
              <a:alpha val="12000"/>
            </a:srgbClr>
          </a:solidFill>
          <a:ln w="12700">
            <a:solidFill>
              <a:srgbClr val="1B6CA8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42432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· Blood Pressure · BMI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50992" y="2340864"/>
            <a:ext cx="2926080" cy="685800"/>
          </a:xfrm>
          <a:prstGeom prst="roundRect">
            <a:avLst>
              <a:gd name="adj" fmla="val 9333"/>
            </a:avLst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42432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Pregnancies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50992" y="3145536"/>
            <a:ext cx="2926080" cy="685800"/>
          </a:xfrm>
          <a:prstGeom prst="roundRect">
            <a:avLst>
              <a:gd name="adj" fmla="val 9333"/>
            </a:avLst>
          </a:prstGeom>
          <a:solidFill>
            <a:srgbClr val="6A0572">
              <a:alpha val="12000"/>
            </a:srgbClr>
          </a:solidFill>
          <a:ln w="12700">
            <a:solidFill>
              <a:srgbClr val="6A0572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0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Familial Risk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42432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Pedigree Function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50992" y="3950208"/>
            <a:ext cx="2926080" cy="685800"/>
          </a:xfrm>
          <a:prstGeom prst="roundRect">
            <a:avLst>
              <a:gd name="adj" fmla="val 9333"/>
            </a:avLst>
          </a:prstGeom>
          <a:solidFill>
            <a:srgbClr val="E63946">
              <a:alpha val="12000"/>
            </a:srgbClr>
          </a:solidFill>
          <a:ln w="12700">
            <a:solidFill>
              <a:srgbClr val="E63946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42432" y="4261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Status (0 / 1)</a:t>
            </a:r>
            <a:endParaRPr lang="en-US" sz="14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727F88DD-031C-6911-C1DC-3036B02A71A1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49701"/>
            <a:ext cx="2606040" cy="358699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078992"/>
            <a:ext cx="960120" cy="96012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07899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Impossible Zeros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8346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BloodPressure, BMI, and Glucose contained zero values which makes it physiologically impossible. These were recoded as missing (NA).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10128" y="949701"/>
            <a:ext cx="2606040" cy="358699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87368" y="1078992"/>
            <a:ext cx="960120" cy="9601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87368" y="107899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01568" y="21762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High-Missingness Variables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8346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(48.7% missing) and SkinThickness (29.6% missing) were excluded entirely to avoid biased correlation estimates.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63056" y="949701"/>
            <a:ext cx="2606040" cy="358699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0296" y="1078992"/>
            <a:ext cx="960120" cy="960120"/>
          </a:xfrm>
          <a:prstGeom prst="ellipse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107899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54496" y="21762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Listwise Deletion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81928" y="28346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any remaining NA values were removed. Final dataset: 724 observations, 7 variables. 44 rows removed (5.7%).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original observations  →  724 retained after cleaning</a:t>
            </a:r>
            <a:endParaRPr lang="en-US" sz="14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5D1B3DE4-875A-1878-AF35-7728123E0FED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ASSESSMENT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/home/claude/Histogram__Glucose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969264"/>
            <a:ext cx="2542032" cy="1481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2336" y="246888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— broadly symmetric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273552" y="9144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8" name="Image 1" descr="/home/claude/Histogram__Blood_Pressure_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969264"/>
            <a:ext cx="2542032" cy="1481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28416" y="246888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— approximately normal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199632" y="9144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2" descr="/home/claude/Histogram__BMI_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969264"/>
            <a:ext cx="2542032" cy="14813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54496" y="246888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— moderate right skew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347472" y="29718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4" name="Image 3" descr="/home/claude/Histogram__Age_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026664"/>
            <a:ext cx="2542032" cy="14813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02336" y="452628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— strong right skew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3273552" y="29718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7" name="Image 4" descr="/home/claude/Histogram__Diabetes_Pedigree_Function_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704" y="3026664"/>
            <a:ext cx="2542032" cy="14813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28416" y="452628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DPF — heavy right skew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6199632" y="29718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0" name="Image 5" descr="/home/claude/Histogram__Pregnancies_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026664"/>
            <a:ext cx="2542032" cy="148132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54496" y="452628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— count data, skewed</a:t>
            </a:r>
            <a:endParaRPr lang="en-US" sz="850" dirty="0"/>
          </a:p>
        </p:txBody>
      </p:sp>
      <p:sp>
        <p:nvSpPr>
          <p:cNvPr id="22" name="Shape 14"/>
          <p:cNvSpPr/>
          <p:nvPr/>
        </p:nvSpPr>
        <p:spPr>
          <a:xfrm>
            <a:off x="8869680" y="914400"/>
            <a:ext cx="91440" cy="4023360"/>
          </a:xfrm>
          <a:prstGeom prst="round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7026F603-855D-1943-1EA0-E7715D5227F7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METHOD SELECTION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methods, justified by variable characteristics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1A3A5C"/>
          </a:solidFill>
          <a:ln w="12700">
            <a:solidFill>
              <a:srgbClr val="1B6CA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34440"/>
            <a:ext cx="2697480" cy="594360"/>
          </a:xfrm>
          <a:prstGeom prst="roundRect">
            <a:avLst>
              <a:gd name="adj" fmla="val 1846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34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Point-Biserial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19202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21579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binary variable (0/1)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2606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pairs: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2862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↔ Glucose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31455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↔ BMI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" y="3429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↔ 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" y="37124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↔ Blood Pressure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279393"/>
            <a:ext cx="2468880" cy="547644"/>
          </a:xfrm>
          <a:prstGeom prst="roundRect">
            <a:avLst>
              <a:gd name="adj" fmla="val 16667"/>
            </a:avLst>
          </a:prstGeom>
          <a:solidFill>
            <a:srgbClr val="1B6CA8">
              <a:alpha val="35000"/>
            </a:srgbClr>
          </a:solidFill>
          <a:ln w="12700">
            <a:solidFill>
              <a:srgbClr val="1B6CA8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4279395"/>
            <a:ext cx="2423160" cy="5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equivalent to Pearson when one variable is dichotomous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73552" y="123444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1A3A5C"/>
          </a:solidFill>
          <a:ln w="12700">
            <a:solidFill>
              <a:srgbClr val="F4A261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73552" y="1234440"/>
            <a:ext cx="2697480" cy="594360"/>
          </a:xfrm>
          <a:prstGeom prst="roundRect">
            <a:avLst>
              <a:gd name="adj" fmla="val 1846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234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10712" y="19202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10712" y="21579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continuous, approx. linear, no severe violations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10712" y="2606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pairs: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10712" y="2862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↔ BMI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10712" y="31455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Blood Pressure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83280" y="4279393"/>
            <a:ext cx="2468880" cy="547644"/>
          </a:xfrm>
          <a:prstGeom prst="roundRect">
            <a:avLst>
              <a:gd name="adj" fmla="val 16667"/>
            </a:avLst>
          </a:prstGeom>
          <a:solidFill>
            <a:srgbClr val="F4A261">
              <a:alpha val="35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4279394"/>
            <a:ext cx="2423160" cy="5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Scatterplots confirmed linear trends; mild heteroscedasticity noted for Age vs BP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99632" y="123444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1A3A5C"/>
          </a:solidFill>
          <a:ln w="12700">
            <a:solidFill>
              <a:srgbClr val="9B72C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7" name="Shape 25"/>
          <p:cNvSpPr/>
          <p:nvPr/>
        </p:nvSpPr>
        <p:spPr>
          <a:xfrm>
            <a:off x="6199632" y="1234440"/>
            <a:ext cx="2697480" cy="594360"/>
          </a:xfrm>
          <a:prstGeom prst="roundRect">
            <a:avLst>
              <a:gd name="adj" fmla="val 18462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1234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36792" y="19202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36792" y="21579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Non-normal, count data, or monotonic relationship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36792" y="2606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pairs: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36792" y="2862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 ↔ Pregnancies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36792" y="31455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Pregnancies ↔ BMI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36792" y="3429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Pregnancies ↔ Glucose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36792" y="37124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DPF ↔ Glucose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36792" y="3995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DPF ↔ BMI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09360" y="4279393"/>
            <a:ext cx="2468880" cy="547644"/>
          </a:xfrm>
          <a:prstGeom prst="roundRect">
            <a:avLst>
              <a:gd name="adj" fmla="val 16667"/>
            </a:avLst>
          </a:prstGeom>
          <a:solidFill>
            <a:srgbClr val="9B72CF">
              <a:alpha val="35000"/>
            </a:srgbClr>
          </a:solidFill>
          <a:ln w="12700">
            <a:solidFill>
              <a:srgbClr val="9B72C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4279394"/>
            <a:ext cx="2423160" cy="5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ranks present in Pregnancies — asymptotic p-values used</a:t>
            </a:r>
            <a:endParaRPr lang="en-US" sz="1200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D7086D48-0E30-C434-51F9-4CFB61A8D38E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ASSUMPTION CHECKS (SCATTERPLOTS)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4048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9875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vs BMI</a:t>
            </a:r>
            <a:endParaRPr lang="en-US" sz="1400" dirty="0"/>
          </a:p>
        </p:txBody>
      </p:sp>
      <p:pic>
        <p:nvPicPr>
          <p:cNvPr id="6" name="Image 0" descr="/home/claude/Scatterplot_of_Glucose_vs_BM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371600"/>
            <a:ext cx="393192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1208" y="400507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" y="4005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0.223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984248" y="4005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linear · Pearson appropriate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18888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56048" y="9875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vs Age</a:t>
            </a:r>
            <a:endParaRPr lang="en-US" sz="1400" dirty="0"/>
          </a:p>
        </p:txBody>
      </p:sp>
      <p:pic>
        <p:nvPicPr>
          <p:cNvPr id="12" name="Image 1" descr="/home/claude/Scatterplot_of_Blood_Pressure_vs_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371600"/>
            <a:ext cx="3931920" cy="2560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956048" y="400507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56048" y="4005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0.325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19088" y="4005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 present · Mild heteroscedasticity noted</a:t>
            </a:r>
            <a:endParaRPr lang="en-US" sz="14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0EDB27AE-3632-BC64-4145-B4D17813CC20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RESULTS — ALL 11 PAIRS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192449"/>
              </p:ext>
            </p:extLst>
          </p:nvPr>
        </p:nvGraphicFramePr>
        <p:xfrm>
          <a:off x="272827" y="877824"/>
          <a:ext cx="4846320" cy="42291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Variable Pair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 / ρ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vs Glucose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Point-Biserial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vs 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Point-Biserial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vs 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Point-Biserial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vs Blood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Point-Biserial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 vs 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vs Blood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vs Pregnancies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Pregnancies vs 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Pregnancies vs Glucose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DPF vs Glucose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 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DPF vs 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705793552"/>
              </p:ext>
            </p:extLst>
          </p:nvPr>
        </p:nvGraphicFramePr>
        <p:xfrm>
          <a:off x="5349240" y="896112"/>
          <a:ext cx="3474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5349240" y="4160520"/>
            <a:ext cx="3474720" cy="622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DPF vs Glucose (p=0.021) is the weakest significant finding that interprets cautiously given no multiple-comparison correction was applied.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F54F9D5-DC00-1F27-D0DE-C3FC53F4F5BC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(OVERALL PATTERN)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896112"/>
            <a:ext cx="5029200" cy="3800296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/home/claude/Correlation_matrix_heatmap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4800600" cy="3629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96012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77840" y="1493333"/>
            <a:ext cx="201168" cy="20116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70448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Pregnancies: strongest inter-variable association (0.56 Pearson / 0.617 Spearman)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577840" y="2235147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70448" y="215913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Blood Pressure: moderate positive relationship (0.32)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577840" y="2810069"/>
            <a:ext cx="201168" cy="201168"/>
          </a:xfrm>
          <a:prstGeom prst="ellipse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273405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↔ BMI: weak positive link through metabolic pathway (0.22)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77840" y="3468437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70448" y="33924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↔ BMI: effectively zero — null result confirmed (0.01)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577840" y="4126805"/>
            <a:ext cx="201168" cy="201168"/>
          </a:xfrm>
          <a:prstGeom prst="ellipse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0448" y="40507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DPF shows only weak associations with other variables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7472" y="4803461"/>
            <a:ext cx="85290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heatmap uses Pearson coefficients for all pairs as a visual overview. Method-specific results in the table are the primary analysis.</a:t>
            </a:r>
            <a:endParaRPr lang="en-US" sz="12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11993BB-309D-9E5E-A4B7-FA07886A5730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ANALYSIS (BLOOD PRESSURE &amp; DIABETES)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47472" y="896112"/>
            <a:ext cx="466344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/home/claude/Blood_Pressure_by_Diabetes_Status__Boxplot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969264"/>
            <a:ext cx="448056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5780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57800" y="1444752"/>
            <a:ext cx="354787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B6CA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49240" y="148132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70.9 mmHg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349240" y="179222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Non-Diabetic Mean BP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57800" y="2194560"/>
            <a:ext cx="354787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3946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349240" y="223113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75.2 mmHg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349240" y="254203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Mean BP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257800" y="2944368"/>
            <a:ext cx="354787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6A0572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349240" y="29809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A05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mmHg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349240" y="329184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257800" y="3694176"/>
            <a:ext cx="354787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D6A4F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349240" y="37307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349240" y="404164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257800" y="4352544"/>
            <a:ext cx="3547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correlation (r = 0.167) understates the group-level difference. Statistical significance ≠ clinical significance — 4.3 mmHg is a marginal clinical difference.</a:t>
            </a:r>
            <a:endParaRPr lang="en-US" sz="12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941E51D1-533E-2188-A53F-F1350A1BB2A0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correlations actually tell us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B6CA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417320"/>
            <a:ext cx="438912" cy="43891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0704" y="13990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is the strongest clinical signal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" y="19842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0.488 with diabetes status — the highest correlation in the study. Reflects the biological centrality of glucose dysregulation in Type 2 diabetes.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82312" y="123444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46904" y="1417320"/>
            <a:ext cx="438912" cy="43891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46904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95544" y="13990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variables are internally related but weakly predictive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46904" y="19842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Pregnancies: ρ = 0.617. Yet both show weak associations with diabetes status — demographic variables capture shared structure, not diabetes risk.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310896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63946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" y="3291840"/>
            <a:ext cx="438912" cy="43891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291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" y="32735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vs BMI: a null result worth reporting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" y="38587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−0.002, p = 0.967. Despite theoretical expectations, parity and body composition were entirely unrelated in this dataset.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82312" y="310896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9B72CF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46904" y="3291840"/>
            <a:ext cx="438912" cy="438912"/>
          </a:xfrm>
          <a:prstGeom prst="ellipse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46904" y="3291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95544" y="32735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DPF associations are real but fragile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46904" y="38587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Familial risk shows weak positive links with Glucose and BMI. DPF vs Glucose (p = 0.021) may not survive multiple-comparison correction.</a:t>
            </a:r>
            <a:endParaRPr lang="en-US" sz="14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F39ECB90-93FE-A617-6832-68EE2ADE0066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10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932688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32688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1B6CA8">
              <a:alpha val="85000"/>
            </a:srgbClr>
          </a:solidFill>
          <a:ln w="12700">
            <a:solidFill>
              <a:srgbClr val="1B6CA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32688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3272" y="10241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13898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does not imply causation. Directionality of relationships cannot be determined.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82312" y="932688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932688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F4A261">
              <a:alpha val="85000"/>
            </a:srgbClr>
          </a:solidFill>
          <a:ln w="12700">
            <a:solidFill>
              <a:srgbClr val="F4A261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932688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68112" y="10241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8112" y="13898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Listwise deletion reduced n from 768 to 724. Missingness may not be random, potentially introducing bias.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2322576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322576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6A0572">
              <a:alpha val="85000"/>
            </a:srgbClr>
          </a:solidFill>
          <a:ln w="12700">
            <a:solidFill>
              <a:srgbClr val="6A0572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322576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33272" y="24140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variables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3272" y="277977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and SkinThickness were excluded due to excessive missingness. Important clinical information may be absent.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82312" y="2322576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82312" y="2322576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E63946">
              <a:alpha val="85000"/>
            </a:srgbClr>
          </a:solidFill>
          <a:ln w="12700">
            <a:solidFill>
              <a:srgbClr val="E63946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322576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68112" y="24140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comparisons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68112" y="277977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tests were run without Bonferroni or FDR correction. Weak findings (e.g. DPF vs Glucose, p=0.021) may be false positives.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7472" y="3712464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712464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3A7D44">
              <a:alpha val="85000"/>
            </a:srgbClr>
          </a:solidFill>
          <a:ln w="12700">
            <a:solidFill>
              <a:srgbClr val="3A7D44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712464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33272" y="380390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Heteroscedasticity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3272" y="416966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Blood Pressure showed mild heteroscedasticity. Pearson coefficient should be interpreted with this caveat.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82312" y="3712464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82312" y="3712464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1A6B8A">
              <a:alpha val="85000"/>
            </a:srgbClr>
          </a:solidFill>
          <a:ln w="12700">
            <a:solidFill>
              <a:srgbClr val="1A6B8A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3712464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68112" y="380390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specificity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68112" y="416966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apply only to Pima Indian women. Generalization to other populations is not supported.</a:t>
            </a:r>
            <a:endParaRPr lang="en-US" sz="14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316F1C1F-C3DF-9780-A96A-309A90A8CF5B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11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731520"/>
            <a:ext cx="2560320" cy="256032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variables are more informative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demographic characteristics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diabetes status.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13695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hierarchy with diabetes status: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52344"/>
            <a:ext cx="1645920" cy="1316736"/>
          </a:xfrm>
          <a:prstGeom prst="roundRect">
            <a:avLst>
              <a:gd name="adj" fmla="val 416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780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0.488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2957170"/>
            <a:ext cx="1645920" cy="1111910"/>
          </a:xfrm>
          <a:prstGeom prst="roundRect">
            <a:avLst>
              <a:gd name="adj" fmla="val 4934"/>
            </a:avLst>
          </a:prstGeom>
          <a:solidFill>
            <a:srgbClr val="1B8FC4"/>
          </a:solidFill>
          <a:ln w="12700">
            <a:solidFill>
              <a:srgbClr val="1B8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68285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0.299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3161995"/>
            <a:ext cx="1645920" cy="907085"/>
          </a:xfrm>
          <a:prstGeom prst="roundRect">
            <a:avLst>
              <a:gd name="adj" fmla="val 6048"/>
            </a:avLst>
          </a:prstGeom>
          <a:solidFill>
            <a:srgbClr val="3AAFDC"/>
          </a:solidFill>
          <a:ln w="12700">
            <a:solidFill>
              <a:srgbClr val="3AAF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887675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0.246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3366821"/>
            <a:ext cx="1645920" cy="702259"/>
          </a:xfrm>
          <a:prstGeom prst="roundRect">
            <a:avLst>
              <a:gd name="adj" fmla="val 7813"/>
            </a:avLst>
          </a:prstGeom>
          <a:solidFill>
            <a:srgbClr val="7FCFE8"/>
          </a:solidFill>
          <a:ln w="12700">
            <a:solidFill>
              <a:srgbClr val="7FC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092501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0.167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logistic regression to examine independent contributions of multiple risk factors simultaneously.</a:t>
            </a:r>
            <a:endParaRPr lang="en-US" sz="14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50364998-3FBB-5152-52B0-A26046592D23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12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228437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Field, A., Miles, J., &amp; Field, Z. (2012). Discovering statistics using R. SAGE Publications.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8046720" cy="0"/>
          </a:xfrm>
          <a:prstGeom prst="line">
            <a:avLst/>
          </a:prstGeom>
          <a:noFill/>
          <a:ln w="6350">
            <a:solidFill>
              <a:srgbClr val="D0DF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1450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Knowler, W. C., Bennett, P. H., Hamman, R. F., &amp; Miller, M. (1978). Diabetes incidence and prevalence in Pima Indians: A 19-fold greater incidence than in Rochester, Minnesota. American Journal of Epidemiology, 108(6), 497–505. https://doi.org/10.1093/oxfordjournals.aje.a112648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8046720" cy="0"/>
          </a:xfrm>
          <a:prstGeom prst="line">
            <a:avLst/>
          </a:prstGeom>
          <a:noFill/>
          <a:ln w="6350">
            <a:solidFill>
              <a:srgbClr val="D0D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69464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 Core Team. (2025). R: A language and environment for statistical computing. R Foundation for Statistical Computing. Vienna, Austria. https://www.R-project.org/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273552"/>
            <a:ext cx="8046720" cy="0"/>
          </a:xfrm>
          <a:prstGeom prst="line">
            <a:avLst/>
          </a:prstGeom>
          <a:noFill/>
          <a:ln w="6350">
            <a:solidFill>
              <a:srgbClr val="D0D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374136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UCI Machine Learning Repository. (n.d.). Pima Indians Diabetes Database. Retrieved June 22, 2026, from https://archive.ics.uci.edu/dataset/34/diabetes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078224"/>
            <a:ext cx="8046720" cy="0"/>
          </a:xfrm>
          <a:prstGeom prst="line">
            <a:avLst/>
          </a:prstGeom>
          <a:noFill/>
          <a:ln w="6350">
            <a:solidFill>
              <a:srgbClr val="D0DF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17880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World Health Organization. (2024, November 14). Diabetes. https://www.who.int/news-room/fact-sheets/detail/diabetes</a:t>
            </a:r>
            <a:endParaRPr lang="en-US" sz="14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9534843C-1AB2-38C0-4A78-F4586D874CC3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13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1200</Words>
  <Application>Microsoft Office PowerPoint</Application>
  <PresentationFormat>On-screen Show (16:9)</PresentationFormat>
  <Paragraphs>234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 Analysis — Pima Indians Diabetes Dataset</dc:title>
  <dc:subject>PptxGenJS Presentation</dc:subject>
  <dc:creator>Obed</dc:creator>
  <cp:lastModifiedBy>uwaifo obed</cp:lastModifiedBy>
  <cp:revision>10</cp:revision>
  <dcterms:created xsi:type="dcterms:W3CDTF">2026-06-22T09:14:34Z</dcterms:created>
  <dcterms:modified xsi:type="dcterms:W3CDTF">2026-06-22T18:38:15Z</dcterms:modified>
</cp:coreProperties>
</file>